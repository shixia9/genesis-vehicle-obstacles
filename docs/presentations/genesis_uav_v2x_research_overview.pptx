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a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0"/>
            <a:ext cx="55595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06440" y="0"/>
            <a:ext cx="2194560" cy="6858000"/>
          </a:xfrm>
          <a:prstGeom prst="rect">
            <a:avLst/>
          </a:prstGeom>
          <a:solidFill>
            <a:srgbClr val="09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65760"/>
            <a:ext cx="3246120" cy="932688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ith_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502920"/>
            <a:ext cx="2971800" cy="76987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" y="1417320"/>
            <a:ext cx="1417320" cy="310896"/>
          </a:xfrm>
          <a:prstGeom prst="roundRect">
            <a:avLst/>
          </a:prstGeom>
          <a:solidFill>
            <a:srgbClr val="17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26464"/>
            <a:ext cx="1417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28D7E6"/>
                </a:solidFill>
                <a:latin typeface="PingFang SC"/>
              </a:rPr>
              <a:t>课题组技术分享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965960"/>
            <a:ext cx="5806440" cy="7132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900" b="1">
                <a:solidFill>
                  <a:srgbClr val="F7FAFC"/>
                </a:solidFill>
                <a:latin typeface="PingFang SC"/>
              </a:rPr>
              <a:t>Genesis World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761488"/>
            <a:ext cx="5669280" cy="11704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F7FAFC"/>
                </a:solidFill>
                <a:latin typeface="PingFang SC"/>
              </a:rPr>
              <a:t>面向无人机与车联网研究的</a:t>
            </a:r>
            <a:br/>
            <a:r>
              <a:rPr sz="2900" b="1">
                <a:solidFill>
                  <a:srgbClr val="F7FAFC"/>
                </a:solidFill>
                <a:latin typeface="PingFang SC"/>
              </a:rPr>
              <a:t>开放物理仿真平台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87952"/>
            <a:ext cx="525780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A9B7CA"/>
                </a:solidFill>
                <a:latin typeface="PingFang SC"/>
              </a:rPr>
              <a:t>从多物理与传感器，到四旋翼建模、强化学习与 V2X 联合仿真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35040"/>
            <a:ext cx="39319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28D7E6"/>
                </a:solidFill>
                <a:latin typeface="PingFang SC"/>
              </a:rPr>
              <a:t>源码基线  v1.3.3  ·  2026.09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4572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8D7E6"/>
                </a:solidFill>
                <a:latin typeface="PingFang SC"/>
              </a:rPr>
              <a:t>核心判断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7FAFC"/>
                </a:solidFill>
                <a:latin typeface="PingFang SC"/>
              </a:rPr>
              <a:t>先给结论：Genesis 应该放在研究栈的哪一层？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731520" cy="32004"/>
          </a:xfrm>
          <a:prstGeom prst="rect">
            <a:avLst/>
          </a:prstGeom>
          <a:solidFill>
            <a:srgbClr val="28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6547104"/>
            <a:ext cx="10789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71829A"/>
                </a:solidFill>
                <a:latin typeface="PingFang SC"/>
              </a:rPr>
              <a:t>依据：README.md；genesis/engine/scene.py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71829A"/>
                </a:solidFill>
                <a:latin typeface="PingFang SC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26464"/>
            <a:ext cx="66751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28D7E6"/>
                </a:solidFill>
                <a:latin typeface="PingFang SC"/>
              </a:rPr>
              <a:t>物理世界 + 感知 + 高吞吐环境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993392"/>
            <a:ext cx="740664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>
                <a:solidFill>
                  <a:srgbClr val="F7FAFC"/>
                </a:solidFill>
                <a:latin typeface="PingFang SC"/>
              </a:rPr>
              <a:t>它是空—地智能体的“数字试验场”，不是一套完整的通信协议栈。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798064"/>
            <a:ext cx="3429000" cy="2331720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798064"/>
            <a:ext cx="54864" cy="2331720"/>
          </a:xfrm>
          <a:prstGeom prst="rect">
            <a:avLst/>
          </a:prstGeom>
          <a:solidFill>
            <a:srgbClr val="4DE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944368"/>
            <a:ext cx="308152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4DE0A6"/>
                </a:solidFill>
                <a:latin typeface="PingFang SC"/>
              </a:rPr>
              <a:t>Genesis 原生强项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337560"/>
            <a:ext cx="3127248" cy="1691639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  <a:defRPr sz="1500" b="0">
                <a:solidFill>
                  <a:srgbClr val="A9B7CA"/>
                </a:solidFill>
                <a:latin typeface="PingFang SC"/>
              </a:defRPr>
            </a:pPr>
            <a:r>
              <a:t>•  动力学、碰撞、场景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500" b="0">
                <a:solidFill>
                  <a:srgbClr val="A9B7CA"/>
                </a:solidFill>
                <a:latin typeface="PingFang SC"/>
              </a:defRPr>
            </a:pPr>
            <a:r>
              <a:t>•  RGB / Depth / LiDAR / IMU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500" b="0">
                <a:solidFill>
                  <a:srgbClr val="A9B7CA"/>
                </a:solidFill>
                <a:latin typeface="PingFang SC"/>
              </a:defRPr>
            </a:pPr>
            <a:r>
              <a:t>•  并行环境、控制与 RL 接口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798064"/>
            <a:ext cx="3429000" cy="2331720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2798064"/>
            <a:ext cx="54864" cy="233172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944368"/>
            <a:ext cx="308152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FC857"/>
                </a:solidFill>
                <a:latin typeface="PingFang SC"/>
              </a:rPr>
              <a:t>需要外接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3337560"/>
            <a:ext cx="3127248" cy="1691639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  <a:defRPr sz="1500" b="0">
                <a:solidFill>
                  <a:srgbClr val="A9B7CA"/>
                </a:solidFill>
                <a:latin typeface="PingFang SC"/>
              </a:defRPr>
            </a:pPr>
            <a:r>
              <a:t>•  5G / NR-V2X / 802.11p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500" b="0">
                <a:solidFill>
                  <a:srgbClr val="A9B7CA"/>
                </a:solidFill>
                <a:latin typeface="PingFang SC"/>
              </a:defRPr>
            </a:pPr>
            <a:r>
              <a:t>•  包队列、调度、SINR / BER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500" b="0">
                <a:solidFill>
                  <a:srgbClr val="A9B7CA"/>
                </a:solidFill>
                <a:latin typeface="PingFang SC"/>
              </a:defRPr>
            </a:pPr>
            <a:r>
              <a:t>•  ns-3 / OMNeT++ / 信道模型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4" y="2798064"/>
            <a:ext cx="3429000" cy="2331720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47304" y="2798064"/>
            <a:ext cx="54864" cy="2331720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2944368"/>
            <a:ext cx="308152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9B7BFF"/>
                </a:solidFill>
                <a:latin typeface="PingFang SC"/>
              </a:rPr>
              <a:t>课题组机会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3337560"/>
            <a:ext cx="3127248" cy="1691639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  <a:defRPr sz="1500" b="0">
                <a:solidFill>
                  <a:srgbClr val="A9B7CA"/>
                </a:solidFill>
                <a:latin typeface="PingFang SC"/>
              </a:defRPr>
            </a:pPr>
            <a:r>
              <a:t>•  空—地协同感知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500" b="0">
                <a:solidFill>
                  <a:srgbClr val="A9B7CA"/>
                </a:solidFill>
                <a:latin typeface="PingFang SC"/>
              </a:defRPr>
            </a:pPr>
            <a:r>
              <a:t>•  轨迹—通信联合优化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500" b="0">
                <a:solidFill>
                  <a:srgbClr val="A9B7CA"/>
                </a:solidFill>
                <a:latin typeface="PingFang SC"/>
              </a:defRPr>
            </a:pPr>
            <a:r>
              <a:t>•  多智能体 RL 与边缘卸载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4572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8D7E6"/>
                </a:solidFill>
                <a:latin typeface="PingFang SC"/>
              </a:rPr>
              <a:t>01 · GENESIS 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7FAFC"/>
                </a:solidFill>
                <a:latin typeface="PingFang SC"/>
              </a:rPr>
              <a:t>项目背景与定位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731520" cy="32004"/>
          </a:xfrm>
          <a:prstGeom prst="rect">
            <a:avLst/>
          </a:prstGeom>
          <a:solidFill>
            <a:srgbClr val="28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6547104"/>
            <a:ext cx="10789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71829A"/>
                </a:solidFill>
                <a:latin typeface="PingFang SC"/>
              </a:rPr>
              <a:t>依据：README.md；pyproject.toml；LICENSE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71829A"/>
                </a:solidFill>
                <a:latin typeface="PingFang SC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89888"/>
            <a:ext cx="557784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28D7E6"/>
                </a:solidFill>
                <a:latin typeface="PingFang SC"/>
              </a:rPr>
              <a:t>Physical AI simulation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993392"/>
            <a:ext cx="5486400" cy="246888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  <a:defRPr sz="1600" b="0">
                <a:solidFill>
                  <a:srgbClr val="A9B7CA"/>
                </a:solidFill>
                <a:latin typeface="PingFang SC"/>
              </a:defRPr>
            </a:pPr>
            <a:r>
              <a:t>•  2024 年 12 月起源于学术项目，现由 Genesis AI 官方支持</a:t>
            </a:r>
          </a:p>
          <a:p>
            <a:pPr>
              <a:lnSpc>
                <a:spcPct val="104000"/>
              </a:lnSpc>
              <a:spcAft>
                <a:spcPts val="1000"/>
              </a:spcAft>
              <a:defRPr sz="1600" b="0">
                <a:solidFill>
                  <a:srgbClr val="A9B7CA"/>
                </a:solidFill>
                <a:latin typeface="PingFang SC"/>
              </a:defRPr>
            </a:pPr>
            <a:r>
              <a:t>•  当前仓库包版本 1.3.3；Python 3.10–3.13；Apache 2.0</a:t>
            </a:r>
          </a:p>
          <a:p>
            <a:pPr>
              <a:lnSpc>
                <a:spcPct val="104000"/>
              </a:lnSpc>
              <a:spcAft>
                <a:spcPts val="1000"/>
              </a:spcAft>
              <a:defRPr sz="1600" b="0">
                <a:solidFill>
                  <a:srgbClr val="A9B7CA"/>
                </a:solidFill>
                <a:latin typeface="PingFang SC"/>
              </a:defRPr>
            </a:pPr>
            <a:r>
              <a:t>•  统一多物理、真实感渲染、跨平台编译与 Python 接口</a:t>
            </a:r>
          </a:p>
          <a:p>
            <a:pPr>
              <a:lnSpc>
                <a:spcPct val="104000"/>
              </a:lnSpc>
              <a:spcAft>
                <a:spcPts val="1000"/>
              </a:spcAft>
              <a:defRPr sz="1600" b="0">
                <a:solidFill>
                  <a:srgbClr val="A9B7CA"/>
                </a:solidFill>
                <a:latin typeface="PingFang SC"/>
              </a:defRPr>
            </a:pPr>
            <a:r>
              <a:t>•  目标：从单机原型扩展到数据中心 GPU 的 Physical AI 研发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481328"/>
            <a:ext cx="4983480" cy="4315968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03720" y="1773936"/>
            <a:ext cx="502920" cy="310896"/>
          </a:xfrm>
          <a:prstGeom prst="roundRect">
            <a:avLst/>
          </a:prstGeom>
          <a:solidFill>
            <a:srgbClr val="28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1783080"/>
            <a:ext cx="5029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9111F"/>
                </a:solidFill>
                <a:latin typeface="PingFang S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764792"/>
            <a:ext cx="118872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8D7E6"/>
                </a:solidFill>
                <a:latin typeface="PingFang SC"/>
              </a:rPr>
              <a:t>统一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8" y="1773936"/>
            <a:ext cx="25146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A9B7CA"/>
                </a:solidFill>
                <a:latin typeface="PingFang SC"/>
              </a:rPr>
              <a:t>同一场景、同一状态、多求解器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2706624"/>
            <a:ext cx="502920" cy="310896"/>
          </a:xfrm>
          <a:prstGeom prst="roundRect">
            <a:avLst/>
          </a:prstGeom>
          <a:solidFill>
            <a:srgbClr val="4DE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2715768"/>
            <a:ext cx="5029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9111F"/>
                </a:solidFill>
                <a:latin typeface="PingFang S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697480"/>
            <a:ext cx="118872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4DE0A6"/>
                </a:solidFill>
                <a:latin typeface="PingFang SC"/>
              </a:rPr>
              <a:t>高吞吐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3648" y="2706624"/>
            <a:ext cx="25146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A9B7CA"/>
                </a:solidFill>
                <a:latin typeface="PingFang SC"/>
              </a:rPr>
              <a:t>批量环境与张量化控制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3639312"/>
            <a:ext cx="502920" cy="310896"/>
          </a:xfrm>
          <a:prstGeom prst="roundRect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3648456"/>
            <a:ext cx="5029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9111F"/>
                </a:solidFill>
                <a:latin typeface="PingFang S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630168"/>
            <a:ext cx="118872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9B7BFF"/>
                </a:solidFill>
                <a:latin typeface="PingFang SC"/>
              </a:rPr>
              <a:t>可扩展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8" y="3639312"/>
            <a:ext cx="25146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A9B7CA"/>
                </a:solidFill>
                <a:latin typeface="PingFang SC"/>
              </a:rPr>
              <a:t>资产、传感器、控制器、算法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572000"/>
            <a:ext cx="502920" cy="310896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4581144"/>
            <a:ext cx="5029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9111F"/>
                </a:solidFill>
                <a:latin typeface="PingFang SC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562856"/>
            <a:ext cx="118872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FC857"/>
                </a:solidFill>
                <a:latin typeface="PingFang SC"/>
              </a:rPr>
              <a:t>跨平台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3648" y="4572000"/>
            <a:ext cx="25146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A9B7CA"/>
                </a:solidFill>
                <a:latin typeface="PingFang SC"/>
              </a:rPr>
              <a:t>CUDA / ROCm / Metal / CPU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4572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8D7E6"/>
                </a:solidFill>
                <a:latin typeface="PingFang SC"/>
              </a:rPr>
              <a:t>01 · GENESIS 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7FAFC"/>
                </a:solidFill>
                <a:latin typeface="PingFang SC"/>
              </a:rPr>
              <a:t>四层架构：把研究代码与硬件后端隔离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731520" cy="32004"/>
          </a:xfrm>
          <a:prstGeom prst="rect">
            <a:avLst/>
          </a:prstGeom>
          <a:solidFill>
            <a:srgbClr val="28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6547104"/>
            <a:ext cx="10789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71829A"/>
                </a:solidFill>
                <a:latin typeface="PingFang SC"/>
              </a:rPr>
              <a:t>依据：README.md — What is Genesis World?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71829A"/>
                </a:solidFill>
                <a:latin typeface="PingFang SC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" y="1389888"/>
            <a:ext cx="10287000" cy="658368"/>
          </a:xfrm>
          <a:prstGeom prst="roundRect">
            <a:avLst/>
          </a:prstGeom>
          <a:solidFill>
            <a:srgbClr val="17263A"/>
          </a:solidFill>
          <a:ln w="13970">
            <a:solidFill>
              <a:srgbClr val="9B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25296" y="1545336"/>
            <a:ext cx="23317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9B7BFF"/>
                </a:solidFill>
                <a:latin typeface="PingFang SC"/>
              </a:rPr>
              <a:t>研究应用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545336"/>
            <a:ext cx="72237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F7FAFC"/>
                </a:solidFill>
                <a:latin typeface="PingFang SC"/>
              </a:rPr>
              <a:t>控制 · 规划 · RL · 数据生成 · Agent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9904" y="2057400"/>
            <a:ext cx="0" cy="219456"/>
          </a:xfrm>
          <a:prstGeom prst="line">
            <a:avLst/>
          </a:prstGeom>
          <a:ln w="19050">
            <a:solidFill>
              <a:srgbClr val="263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0976" y="2295144"/>
            <a:ext cx="10287000" cy="658368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5296" y="2450591"/>
            <a:ext cx="23317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8D7E6"/>
                </a:solidFill>
                <a:latin typeface="PingFang SC"/>
              </a:rPr>
              <a:t>Simulation Interface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50591"/>
            <a:ext cx="72237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F7FAFC"/>
                </a:solidFill>
                <a:latin typeface="PingFang SC"/>
              </a:rPr>
              <a:t>Scene · Entity · Asset · Sensor · GUI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9904" y="2962656"/>
            <a:ext cx="0" cy="219455"/>
          </a:xfrm>
          <a:prstGeom prst="line">
            <a:avLst/>
          </a:prstGeom>
          <a:ln w="19050">
            <a:solidFill>
              <a:srgbClr val="263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50976" y="3200400"/>
            <a:ext cx="10287000" cy="658368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4DE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25296" y="3355848"/>
            <a:ext cx="23317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4DE0A6"/>
                </a:solidFill>
                <a:latin typeface="PingFang SC"/>
              </a:rPr>
              <a:t>Physics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355848"/>
            <a:ext cx="72237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F7FAFC"/>
                </a:solidFill>
                <a:latin typeface="PingFang SC"/>
              </a:rPr>
              <a:t>Rigid · FEM · MPM · PBD/SPH · uIPC · SAP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9904" y="3867912"/>
            <a:ext cx="0" cy="219456"/>
          </a:xfrm>
          <a:prstGeom prst="line">
            <a:avLst/>
          </a:prstGeom>
          <a:ln w="19050">
            <a:solidFill>
              <a:srgbClr val="263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50976" y="4105656"/>
            <a:ext cx="10287000" cy="658368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54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25296" y="4261104"/>
            <a:ext cx="23317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548BFF"/>
                </a:solidFill>
                <a:latin typeface="PingFang SC"/>
              </a:rPr>
              <a:t>Render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261104"/>
            <a:ext cx="72237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F7FAFC"/>
                </a:solidFill>
                <a:latin typeface="PingFang SC"/>
              </a:rPr>
              <a:t>Nyx · Luisa · Pyrender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89904" y="4773168"/>
            <a:ext cx="0" cy="219456"/>
          </a:xfrm>
          <a:prstGeom prst="line">
            <a:avLst/>
          </a:prstGeom>
          <a:ln w="19050">
            <a:solidFill>
              <a:srgbClr val="263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50976" y="5010912"/>
            <a:ext cx="10287000" cy="658368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25296" y="5166360"/>
            <a:ext cx="23317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FC857"/>
                </a:solidFill>
                <a:latin typeface="PingFang SC"/>
              </a:rPr>
              <a:t>Compiler / Hardware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166360"/>
            <a:ext cx="72237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F7FAFC"/>
                </a:solidFill>
                <a:latin typeface="PingFang SC"/>
              </a:rPr>
              <a:t>Quadrants → CUDA · ROCm · Metal · Vulkan · x86 · ARM64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4572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8D7E6"/>
                </a:solidFill>
                <a:latin typeface="PingFang SC"/>
              </a:rPr>
              <a:t>01 · GENESIS 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7FAFC"/>
                </a:solidFill>
                <a:latin typeface="PingFang SC"/>
              </a:rPr>
              <a:t>统一多物理：不是只有刚体机器人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731520" cy="32004"/>
          </a:xfrm>
          <a:prstGeom prst="rect">
            <a:avLst/>
          </a:prstGeom>
          <a:solidFill>
            <a:srgbClr val="28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6547104"/>
            <a:ext cx="10789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71829A"/>
                </a:solidFill>
                <a:latin typeface="PingFang SC"/>
              </a:rPr>
              <a:t>依据：genesis/engine/simulator.py；examples/coupling/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71829A"/>
                </a:solidFill>
                <a:latin typeface="PingFang SC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444752"/>
            <a:ext cx="3429000" cy="1536192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444752"/>
            <a:ext cx="54864" cy="1536192"/>
          </a:xfrm>
          <a:prstGeom prst="rect">
            <a:avLst/>
          </a:prstGeom>
          <a:solidFill>
            <a:srgbClr val="28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91056"/>
            <a:ext cx="308152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28D7E6"/>
                </a:solidFill>
                <a:latin typeface="PingFang SC"/>
              </a:rPr>
              <a:t>Rigid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3081528" cy="84124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B7CA"/>
                </a:solidFill>
                <a:latin typeface="PingFang SC"/>
              </a:rPr>
              <a:t>机器人、车辆、无人机、碰撞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3983" y="1444752"/>
            <a:ext cx="3429000" cy="1536192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3983" y="1444752"/>
            <a:ext cx="54864" cy="1536192"/>
          </a:xfrm>
          <a:prstGeom prst="rect">
            <a:avLst/>
          </a:prstGeom>
          <a:solidFill>
            <a:srgbClr val="4DE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1" y="1591056"/>
            <a:ext cx="308152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4DE0A6"/>
                </a:solidFill>
                <a:latin typeface="PingFang SC"/>
              </a:rPr>
              <a:t>FEM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1" y="2011680"/>
            <a:ext cx="3081528" cy="84124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B7CA"/>
                </a:solidFill>
                <a:latin typeface="PingFang SC"/>
              </a:rPr>
              <a:t>弹性体与连续介质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6175" y="1444752"/>
            <a:ext cx="3429000" cy="1536192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66175" y="1444752"/>
            <a:ext cx="54864" cy="153619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7344" y="1591056"/>
            <a:ext cx="308152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FFC857"/>
                </a:solidFill>
                <a:latin typeface="PingFang SC"/>
              </a:rPr>
              <a:t>MPM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2011680"/>
            <a:ext cx="3081528" cy="84124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B7CA"/>
                </a:solidFill>
                <a:latin typeface="PingFang SC"/>
              </a:rPr>
              <a:t>沙、雪、材料大变形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3346704"/>
            <a:ext cx="3429000" cy="1536192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" y="3346704"/>
            <a:ext cx="54864" cy="1536192"/>
          </a:xfrm>
          <a:prstGeom prst="rect">
            <a:avLst/>
          </a:prstGeom>
          <a:solidFill>
            <a:srgbClr val="54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493008"/>
            <a:ext cx="308152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548BFF"/>
                </a:solidFill>
                <a:latin typeface="PingFang SC"/>
              </a:rPr>
              <a:t>PBD / SPH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913632"/>
            <a:ext cx="3081528" cy="84124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B7CA"/>
                </a:solidFill>
                <a:latin typeface="PingFang SC"/>
              </a:rPr>
              <a:t>布料、液体、颗粒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43983" y="3346704"/>
            <a:ext cx="3429000" cy="1536192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43983" y="3346704"/>
            <a:ext cx="54864" cy="1536192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1" y="3493008"/>
            <a:ext cx="308152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9B7BFF"/>
                </a:solidFill>
                <a:latin typeface="PingFang SC"/>
              </a:rPr>
              <a:t>Stable Fluid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5151" y="3913632"/>
            <a:ext cx="3081528" cy="84124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B7CA"/>
                </a:solidFill>
                <a:latin typeface="PingFang SC"/>
              </a:rPr>
              <a:t>烟雾/流体场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66175" y="3346704"/>
            <a:ext cx="3429000" cy="1536192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66175" y="3346704"/>
            <a:ext cx="54864" cy="153619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67344" y="3493008"/>
            <a:ext cx="308152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FF6B6B"/>
                </a:solidFill>
                <a:latin typeface="PingFang SC"/>
              </a:rPr>
              <a:t>Couplers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67344" y="3913632"/>
            <a:ext cx="3081528" cy="84124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B7CA"/>
                </a:solidFill>
                <a:latin typeface="PingFang SC"/>
              </a:rPr>
              <a:t>SAP · Legacy · uIPC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440680"/>
            <a:ext cx="1088136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F7FAFC"/>
                </a:solidFill>
                <a:latin typeface="PingFang SC"/>
              </a:rPr>
              <a:t>研究含义：空中机器人、道路车辆、柔性物体、颗粒/流体可共享一个场景状态。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4572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8D7E6"/>
                </a:solidFill>
                <a:latin typeface="PingFang SC"/>
              </a:rPr>
              <a:t>02 · 实现细节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7FAFC"/>
                </a:solidFill>
                <a:latin typeface="PingFang SC"/>
              </a:rPr>
              <a:t>一次仿真如何运行：Scene 是核心编排器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731520" cy="32004"/>
          </a:xfrm>
          <a:prstGeom prst="rect">
            <a:avLst/>
          </a:prstGeom>
          <a:solidFill>
            <a:srgbClr val="28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6547104"/>
            <a:ext cx="10789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71829A"/>
                </a:solidFill>
                <a:latin typeface="PingFang SC"/>
              </a:rPr>
              <a:t>依据：genesis/__init__.py；genesis/engine/scene.py；simulator.py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71829A"/>
                </a:solidFill>
                <a:latin typeface="PingFang SC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874519" cy="1965960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1288" y="1490472"/>
            <a:ext cx="566928" cy="566928"/>
          </a:xfrm>
          <a:prstGeom prst="ellipse">
            <a:avLst/>
          </a:prstGeom>
          <a:solidFill>
            <a:srgbClr val="28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1627632"/>
            <a:ext cx="566928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09111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267712"/>
            <a:ext cx="158191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F7FAFC"/>
                </a:solidFill>
                <a:latin typeface="PingFang SC"/>
              </a:rPr>
              <a:t>gs.init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761488"/>
            <a:ext cx="1545336" cy="5852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A9B7CA"/>
                </a:solidFill>
                <a:latin typeface="PingFang SC"/>
              </a:rPr>
              <a:t>后端 / 精度 / 随机种子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86584" y="2816352"/>
            <a:ext cx="402336" cy="0"/>
          </a:xfrm>
          <a:prstGeom prst="line">
            <a:avLst/>
          </a:prstGeom>
          <a:ln w="25400">
            <a:solidFill>
              <a:srgbClr val="28D7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34639" y="1828800"/>
            <a:ext cx="1874519" cy="1965960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3007" y="1490472"/>
            <a:ext cx="566928" cy="566928"/>
          </a:xfrm>
          <a:prstGeom prst="ellipse">
            <a:avLst/>
          </a:prstGeom>
          <a:solidFill>
            <a:srgbClr val="28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7" y="1627632"/>
            <a:ext cx="566928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09111F"/>
                </a:solidFill>
                <a:latin typeface="PingFang S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0944" y="2267712"/>
            <a:ext cx="158191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F7FAFC"/>
                </a:solidFill>
                <a:latin typeface="PingFang SC"/>
              </a:rPr>
              <a:t>Scene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2761488"/>
            <a:ext cx="1545336" cy="5852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A9B7CA"/>
                </a:solidFill>
                <a:latin typeface="PingFang SC"/>
              </a:rPr>
              <a:t>求解器 / 渲染 / 传感器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18304" y="2816352"/>
            <a:ext cx="402336" cy="0"/>
          </a:xfrm>
          <a:prstGeom prst="line">
            <a:avLst/>
          </a:prstGeom>
          <a:ln w="25400">
            <a:solidFill>
              <a:srgbClr val="28D7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66359" y="1828800"/>
            <a:ext cx="1874519" cy="1965960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24727" y="1490472"/>
            <a:ext cx="566928" cy="566928"/>
          </a:xfrm>
          <a:prstGeom prst="ellipse">
            <a:avLst/>
          </a:prstGeom>
          <a:solidFill>
            <a:srgbClr val="28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4727" y="1627632"/>
            <a:ext cx="566928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09111F"/>
                </a:solidFill>
                <a:latin typeface="PingFang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2664" y="2267712"/>
            <a:ext cx="158191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F7FAFC"/>
                </a:solidFill>
                <a:latin typeface="PingFang SC"/>
              </a:rPr>
              <a:t>add_entity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0951" y="2761488"/>
            <a:ext cx="1545336" cy="5852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A9B7CA"/>
                </a:solidFill>
                <a:latin typeface="PingFang SC"/>
              </a:rPr>
              <a:t>Morph + Material + Surface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50023" y="2816352"/>
            <a:ext cx="402336" cy="0"/>
          </a:xfrm>
          <a:prstGeom prst="line">
            <a:avLst/>
          </a:prstGeom>
          <a:ln w="25400">
            <a:solidFill>
              <a:srgbClr val="28D7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98079" y="1828800"/>
            <a:ext cx="1874519" cy="1965960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56448" y="1490472"/>
            <a:ext cx="566928" cy="566928"/>
          </a:xfrm>
          <a:prstGeom prst="ellipse">
            <a:avLst/>
          </a:prstGeom>
          <a:solidFill>
            <a:srgbClr val="28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56448" y="1627632"/>
            <a:ext cx="566928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09111F"/>
                </a:solidFill>
                <a:latin typeface="PingFang S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44383" y="2267712"/>
            <a:ext cx="158191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F7FAFC"/>
                </a:solidFill>
                <a:latin typeface="PingFang SC"/>
              </a:rPr>
              <a:t>build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62671" y="2761488"/>
            <a:ext cx="1545336" cy="5852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A9B7CA"/>
                </a:solidFill>
                <a:latin typeface="PingFang SC"/>
              </a:rPr>
              <a:t>解析 / 复制 / 分配 / 编译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381744" y="2816352"/>
            <a:ext cx="402336" cy="0"/>
          </a:xfrm>
          <a:prstGeom prst="line">
            <a:avLst/>
          </a:prstGeom>
          <a:ln w="25400">
            <a:solidFill>
              <a:srgbClr val="28D7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829800" y="1828800"/>
            <a:ext cx="1874519" cy="1965960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488168" y="1490472"/>
            <a:ext cx="566928" cy="566928"/>
          </a:xfrm>
          <a:prstGeom prst="ellipse">
            <a:avLst/>
          </a:prstGeom>
          <a:solidFill>
            <a:srgbClr val="4DE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88168" y="1627632"/>
            <a:ext cx="566928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09111F"/>
                </a:solidFill>
                <a:latin typeface="PingFang SC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76104" y="2267712"/>
            <a:ext cx="158191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F7FAFC"/>
                </a:solidFill>
                <a:latin typeface="PingFang SC"/>
              </a:rPr>
              <a:t>step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94392" y="2761488"/>
            <a:ext cx="1545336" cy="5852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A9B7CA"/>
                </a:solidFill>
                <a:latin typeface="PingFang SC"/>
              </a:rPr>
              <a:t>动作 → 物理 → 观测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690872"/>
            <a:ext cx="103327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28D7E6"/>
                </a:solidFill>
                <a:latin typeface="PingFang SC"/>
              </a:rPr>
              <a:t>统一循环让传统控制、规划器和策略网络使用同一份状态与传感器数据。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4572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8D7E6"/>
                </a:solidFill>
                <a:latin typeface="PingFang SC"/>
              </a:rPr>
              <a:t>02 · 实现细节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7FAFC"/>
                </a:solidFill>
                <a:latin typeface="PingFang SC"/>
              </a:rPr>
              <a:t>渲染与传感器：从“看起来像”到“可用于闭环”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731520" cy="32004"/>
          </a:xfrm>
          <a:prstGeom prst="rect">
            <a:avLst/>
          </a:prstGeom>
          <a:solidFill>
            <a:srgbClr val="28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6547104"/>
            <a:ext cx="10789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71829A"/>
                </a:solidFill>
                <a:latin typeface="PingFang SC"/>
              </a:rPr>
              <a:t>依据：README.md；genesis/engine/sensors/；options/sensors/options.py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71829A"/>
                </a:solidFill>
                <a:latin typeface="PingFang SC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3337560" cy="1920240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54864" cy="1920240"/>
          </a:xfrm>
          <a:prstGeom prst="rect">
            <a:avLst/>
          </a:prstGeom>
          <a:solidFill>
            <a:srgbClr val="54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563624"/>
            <a:ext cx="299008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548BFF"/>
                </a:solidFill>
                <a:latin typeface="PingFang SC"/>
              </a:rPr>
              <a:t>视觉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956816"/>
            <a:ext cx="3035808" cy="128016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  <a:defRPr sz="1400" b="0">
                <a:solidFill>
                  <a:srgbClr val="A9B7CA"/>
                </a:solidFill>
                <a:latin typeface="PingFang SC"/>
              </a:defRPr>
            </a:pPr>
            <a:r>
              <a:t>•  RGB / Camera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400" b="0">
                <a:solidFill>
                  <a:srgbClr val="A9B7CA"/>
                </a:solidFill>
                <a:latin typeface="PingFang SC"/>
              </a:defRPr>
            </a:pPr>
            <a:r>
              <a:t>•  Depth Camera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400" b="0">
                <a:solidFill>
                  <a:srgbClr val="A9B7CA"/>
                </a:solidFill>
                <a:latin typeface="PingFang SC"/>
              </a:defRPr>
            </a:pPr>
            <a:r>
              <a:t>•  Nyx · Luisa · Pyrender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33087" y="1417320"/>
            <a:ext cx="3337560" cy="1920240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33087" y="1417320"/>
            <a:ext cx="54864" cy="1920240"/>
          </a:xfrm>
          <a:prstGeom prst="rect">
            <a:avLst/>
          </a:prstGeom>
          <a:solidFill>
            <a:srgbClr val="4DE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4255" y="1563624"/>
            <a:ext cx="299008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4DE0A6"/>
                </a:solidFill>
                <a:latin typeface="PingFang SC"/>
              </a:rPr>
              <a:t>机器人状态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1956816"/>
            <a:ext cx="3035808" cy="128016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  <a:defRPr sz="1400" b="0">
                <a:solidFill>
                  <a:srgbClr val="A9B7CA"/>
                </a:solidFill>
                <a:latin typeface="PingFang SC"/>
              </a:defRPr>
            </a:pPr>
            <a:r>
              <a:t>•  IMU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400" b="0">
                <a:solidFill>
                  <a:srgbClr val="A9B7CA"/>
                </a:solidFill>
                <a:latin typeface="PingFang SC"/>
              </a:defRPr>
            </a:pPr>
            <a:r>
              <a:t>•  Joint Torque / Contact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400" b="0">
                <a:solidFill>
                  <a:srgbClr val="A9B7CA"/>
                </a:solidFill>
                <a:latin typeface="PingFang SC"/>
              </a:defRPr>
            </a:pPr>
            <a:r>
              <a:t>•  Surface Distance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71816" y="1417320"/>
            <a:ext cx="3337560" cy="1920240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71816" y="1417320"/>
            <a:ext cx="54864" cy="1920240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72984" y="1563624"/>
            <a:ext cx="299008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9B7BFF"/>
                </a:solidFill>
                <a:latin typeface="PingFang SC"/>
              </a:rPr>
              <a:t>环境感知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6408" y="1956816"/>
            <a:ext cx="3035808" cy="128016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  <a:defRPr sz="1400" b="0">
                <a:solidFill>
                  <a:srgbClr val="A9B7CA"/>
                </a:solidFill>
                <a:latin typeface="PingFang SC"/>
              </a:defRPr>
            </a:pPr>
            <a:r>
              <a:t>•  Raycaster / LiDAR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400" b="0">
                <a:solidFill>
                  <a:srgbClr val="A9B7CA"/>
                </a:solidFill>
                <a:latin typeface="PingFang SC"/>
              </a:defRPr>
            </a:pPr>
            <a:r>
              <a:t>•  Tactile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400" b="0">
                <a:solidFill>
                  <a:srgbClr val="A9B7CA"/>
                </a:solidFill>
                <a:latin typeface="PingFang SC"/>
              </a:defRPr>
            </a:pPr>
            <a:r>
              <a:t>•  Temperature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730752"/>
            <a:ext cx="10415016" cy="1481328"/>
          </a:xfrm>
          <a:prstGeom prst="roundRect">
            <a:avLst/>
          </a:prstGeom>
          <a:solidFill>
            <a:srgbClr val="17263A"/>
          </a:solidFill>
          <a:ln w="13970">
            <a:solidFill>
              <a:srgbClr val="2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995928"/>
            <a:ext cx="20574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28D7E6"/>
                </a:solidFill>
                <a:latin typeface="PingFang SC"/>
              </a:rPr>
              <a:t>传感器时间模型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9232" y="3922776"/>
            <a:ext cx="1691640" cy="301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7FAFC"/>
                </a:solidFill>
                <a:latin typeface="PingFang SC"/>
              </a:rPr>
              <a:t>history_length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9232" y="4370832"/>
            <a:ext cx="16916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A9B7CA"/>
                </a:solidFill>
                <a:latin typeface="PingFang SC"/>
              </a:rPr>
              <a:t>历史观测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3922776"/>
            <a:ext cx="1298448" cy="301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7FAFC"/>
                </a:solidFill>
                <a:latin typeface="PingFang SC"/>
              </a:rPr>
              <a:t>delay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4064" y="4370832"/>
            <a:ext cx="1298448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A9B7CA"/>
                </a:solidFill>
                <a:latin typeface="PingFang SC"/>
              </a:rPr>
              <a:t>读取旧数据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8272" y="3922776"/>
            <a:ext cx="1298448" cy="301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7FAFC"/>
                </a:solidFill>
                <a:latin typeface="PingFang SC"/>
              </a:rPr>
              <a:t>jitter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2" y="4370832"/>
            <a:ext cx="1298448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A9B7CA"/>
                </a:solidFill>
                <a:latin typeface="PingFang SC"/>
              </a:rPr>
              <a:t>随机附加延迟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2208" y="4041648"/>
            <a:ext cx="192024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FFC857"/>
                </a:solidFill>
                <a:latin typeface="PingFang SC"/>
              </a:rPr>
              <a:t>≠ 网络协议栈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4572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8D7E6"/>
                </a:solidFill>
                <a:latin typeface="PingFang SC"/>
              </a:rPr>
              <a:t>02 · 实现细节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7FAFC"/>
                </a:solidFill>
                <a:latin typeface="PingFang SC"/>
              </a:rPr>
              <a:t>并行环境是 Genesis 对强化学习最直接的价值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731520" cy="32004"/>
          </a:xfrm>
          <a:prstGeom prst="rect">
            <a:avLst/>
          </a:prstGeom>
          <a:solidFill>
            <a:srgbClr val="28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6547104"/>
            <a:ext cx="10789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71829A"/>
                </a:solidFill>
                <a:latin typeface="PingFang SC"/>
              </a:rPr>
              <a:t>依据：parallel_simulation.py；domain_randomization.py；heterogeneous_simulation.py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71829A"/>
                </a:solidFill>
                <a:latin typeface="PingFang SC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481328"/>
            <a:ext cx="3840480" cy="4206240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83080"/>
            <a:ext cx="3310128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28D7E6"/>
                </a:solidFill>
                <a:latin typeface="SFMono-Regular"/>
              </a:rPr>
              <a:t>scene.build(n_envs=B)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87168"/>
            <a:ext cx="566928" cy="420624"/>
          </a:xfrm>
          <a:prstGeom prst="roundRect">
            <a:avLst/>
          </a:prstGeom>
          <a:solidFill>
            <a:srgbClr val="17263A"/>
          </a:solidFill>
          <a:ln w="13970">
            <a:solidFill>
              <a:srgbClr val="4DE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596896"/>
            <a:ext cx="566928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7FAFC"/>
                </a:solidFill>
                <a:latin typeface="PingFang SC"/>
              </a:rPr>
              <a:t>E1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37360" y="2487168"/>
            <a:ext cx="566928" cy="420624"/>
          </a:xfrm>
          <a:prstGeom prst="roundRect">
            <a:avLst/>
          </a:prstGeom>
          <a:solidFill>
            <a:srgbClr val="17263A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2596896"/>
            <a:ext cx="566928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7FAFC"/>
                </a:solidFill>
                <a:latin typeface="PingFang SC"/>
              </a:rPr>
              <a:t>E2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23744" y="2487168"/>
            <a:ext cx="566928" cy="420624"/>
          </a:xfrm>
          <a:prstGeom prst="roundRect">
            <a:avLst/>
          </a:prstGeom>
          <a:solidFill>
            <a:srgbClr val="17263A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23744" y="2596896"/>
            <a:ext cx="566928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7FAFC"/>
                </a:solidFill>
                <a:latin typeface="PingFang SC"/>
              </a:rPr>
              <a:t>E3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0128" y="2487168"/>
            <a:ext cx="566928" cy="420624"/>
          </a:xfrm>
          <a:prstGeom prst="roundRect">
            <a:avLst/>
          </a:prstGeom>
          <a:solidFill>
            <a:srgbClr val="17263A"/>
          </a:solidFill>
          <a:ln w="13970">
            <a:solidFill>
              <a:srgbClr val="4DE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2596896"/>
            <a:ext cx="566928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7FAFC"/>
                </a:solidFill>
                <a:latin typeface="PingFang SC"/>
              </a:rPr>
              <a:t>E4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" y="3172968"/>
            <a:ext cx="566928" cy="420624"/>
          </a:xfrm>
          <a:prstGeom prst="roundRect">
            <a:avLst/>
          </a:prstGeom>
          <a:solidFill>
            <a:srgbClr val="17263A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3282696"/>
            <a:ext cx="566928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7FAFC"/>
                </a:solidFill>
                <a:latin typeface="PingFang SC"/>
              </a:rPr>
              <a:t>E5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37360" y="3172968"/>
            <a:ext cx="566928" cy="420624"/>
          </a:xfrm>
          <a:prstGeom prst="roundRect">
            <a:avLst/>
          </a:prstGeom>
          <a:solidFill>
            <a:srgbClr val="17263A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7360" y="3282696"/>
            <a:ext cx="566928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7FAFC"/>
                </a:solidFill>
                <a:latin typeface="PingFang SC"/>
              </a:rPr>
              <a:t>E6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23744" y="3172968"/>
            <a:ext cx="566928" cy="420624"/>
          </a:xfrm>
          <a:prstGeom prst="roundRect">
            <a:avLst/>
          </a:prstGeom>
          <a:solidFill>
            <a:srgbClr val="17263A"/>
          </a:solidFill>
          <a:ln w="13970">
            <a:solidFill>
              <a:srgbClr val="4DE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23744" y="3282696"/>
            <a:ext cx="566928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7FAFC"/>
                </a:solidFill>
                <a:latin typeface="PingFang SC"/>
              </a:rPr>
              <a:t>E7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10128" y="3172968"/>
            <a:ext cx="566928" cy="420624"/>
          </a:xfrm>
          <a:prstGeom prst="roundRect">
            <a:avLst/>
          </a:prstGeom>
          <a:solidFill>
            <a:srgbClr val="17263A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0128" y="3282696"/>
            <a:ext cx="566928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7FAFC"/>
                </a:solidFill>
                <a:latin typeface="PingFang SC"/>
              </a:rPr>
              <a:t>E8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" y="3858768"/>
            <a:ext cx="566928" cy="420624"/>
          </a:xfrm>
          <a:prstGeom prst="roundRect">
            <a:avLst/>
          </a:prstGeom>
          <a:solidFill>
            <a:srgbClr val="17263A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3968496"/>
            <a:ext cx="566928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7FAFC"/>
                </a:solidFill>
                <a:latin typeface="PingFang SC"/>
              </a:rPr>
              <a:t>E9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37360" y="3858768"/>
            <a:ext cx="566928" cy="420624"/>
          </a:xfrm>
          <a:prstGeom prst="roundRect">
            <a:avLst/>
          </a:prstGeom>
          <a:solidFill>
            <a:srgbClr val="17263A"/>
          </a:solidFill>
          <a:ln w="13970">
            <a:solidFill>
              <a:srgbClr val="4DE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3968496"/>
            <a:ext cx="566928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7FAFC"/>
                </a:solidFill>
                <a:latin typeface="PingFang SC"/>
              </a:rPr>
              <a:t>E10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23744" y="3858768"/>
            <a:ext cx="566928" cy="420624"/>
          </a:xfrm>
          <a:prstGeom prst="roundRect">
            <a:avLst/>
          </a:prstGeom>
          <a:solidFill>
            <a:srgbClr val="17263A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23744" y="3968496"/>
            <a:ext cx="566928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7FAFC"/>
                </a:solidFill>
                <a:latin typeface="PingFang SC"/>
              </a:rPr>
              <a:t>E11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10128" y="3858768"/>
            <a:ext cx="566928" cy="420624"/>
          </a:xfrm>
          <a:prstGeom prst="roundRect">
            <a:avLst/>
          </a:prstGeom>
          <a:solidFill>
            <a:srgbClr val="17263A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10128" y="3968496"/>
            <a:ext cx="566928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7FAFC"/>
                </a:solidFill>
                <a:latin typeface="PingFang SC"/>
              </a:rPr>
              <a:t>E12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800600"/>
            <a:ext cx="31546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A9B7CA"/>
                </a:solidFill>
                <a:latin typeface="PingFang SC"/>
              </a:rPr>
              <a:t>张量化状态 / 动作 / reset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82312" y="1481328"/>
            <a:ext cx="3127248" cy="1847088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82312" y="1481328"/>
            <a:ext cx="54864" cy="1847088"/>
          </a:xfrm>
          <a:prstGeom prst="rect">
            <a:avLst/>
          </a:prstGeom>
          <a:solidFill>
            <a:srgbClr val="4DE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83480" y="1627632"/>
            <a:ext cx="2779776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4DE0A6"/>
                </a:solidFill>
                <a:latin typeface="PingFang SC"/>
              </a:rPr>
              <a:t>领域随机化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46904" y="2020824"/>
            <a:ext cx="2825496" cy="120700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  <a:defRPr sz="1300" b="0">
                <a:solidFill>
                  <a:srgbClr val="A9B7CA"/>
                </a:solidFill>
                <a:latin typeface="PingFang SC"/>
              </a:defRPr>
            </a:pPr>
            <a:r>
              <a:t>•  质量 / 质心 / 惯量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300" b="0">
                <a:solidFill>
                  <a:srgbClr val="A9B7CA"/>
                </a:solidFill>
                <a:latin typeface="PingFang SC"/>
              </a:defRPr>
            </a:pPr>
            <a:r>
              <a:t>•  摩擦 / 初值 / 目标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300" b="0">
                <a:solidFill>
                  <a:srgbClr val="A9B7CA"/>
                </a:solidFill>
                <a:latin typeface="PingFang SC"/>
              </a:defRPr>
            </a:pPr>
            <a:r>
              <a:t>•  传感器噪声与时间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56448" y="1481328"/>
            <a:ext cx="3127248" cy="1847088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56448" y="1481328"/>
            <a:ext cx="54864" cy="1847088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57616" y="1627632"/>
            <a:ext cx="2779776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9B7BFF"/>
                </a:solidFill>
                <a:latin typeface="PingFang SC"/>
              </a:rPr>
              <a:t>异构环境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2020824"/>
            <a:ext cx="2825496" cy="120700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  <a:defRPr sz="1300" b="0">
                <a:solidFill>
                  <a:srgbClr val="A9B7CA"/>
                </a:solidFill>
                <a:latin typeface="PingFang SC"/>
              </a:defRPr>
            </a:pPr>
            <a:r>
              <a:t>•  同批次不同几何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300" b="0">
                <a:solidFill>
                  <a:srgbClr val="A9B7CA"/>
                </a:solidFill>
                <a:latin typeface="PingFang SC"/>
              </a:defRPr>
            </a:pPr>
            <a:r>
              <a:t>•  不同环境独立参数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300" b="0">
                <a:solidFill>
                  <a:srgbClr val="A9B7CA"/>
                </a:solidFill>
                <a:latin typeface="PingFang SC"/>
              </a:defRPr>
            </a:pPr>
            <a:r>
              <a:t>•  只渲染少量环境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82312" y="3593592"/>
            <a:ext cx="6501384" cy="2093976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782312" y="3593592"/>
            <a:ext cx="54864" cy="2093976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83480" y="3739896"/>
            <a:ext cx="6153912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FC857"/>
                </a:solidFill>
                <a:latin typeface="PingFang SC"/>
              </a:rPr>
              <a:t>边界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46904" y="4133088"/>
            <a:ext cx="6199632" cy="1453896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  <a:defRPr sz="1400" b="0">
                <a:solidFill>
                  <a:srgbClr val="A9B7CA"/>
                </a:solidFill>
                <a:latin typeface="PingFang SC"/>
              </a:defRPr>
            </a:pPr>
            <a:r>
              <a:t>•  Genesis 提供环境与张量接口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400" b="0">
                <a:solidFill>
                  <a:srgbClr val="A9B7CA"/>
                </a:solidFill>
                <a:latin typeface="PingFang SC"/>
              </a:defRPr>
            </a:pPr>
            <a:r>
              <a:t>•  PPO 示例来自外部 rsl-rl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400" b="0">
                <a:solidFill>
                  <a:srgbClr val="A9B7CA"/>
                </a:solidFill>
                <a:latin typeface="PingFang SC"/>
              </a:defRPr>
            </a:pPr>
            <a:r>
              <a:t>•  SAC / MAPPO / QMIX 等算法需自行接入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4572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8D7E6"/>
                </a:solidFill>
                <a:latin typeface="PingFang SC"/>
              </a:rPr>
              <a:t>03 · 具体案例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7FAFC"/>
                </a:solidFill>
                <a:latin typeface="PingFang SC"/>
              </a:rPr>
              <a:t>仓库案例图谱：从物理验证到学习闭环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731520" cy="32004"/>
          </a:xfrm>
          <a:prstGeom prst="rect">
            <a:avLst/>
          </a:prstGeom>
          <a:solidFill>
            <a:srgbClr val="28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6547104"/>
            <a:ext cx="10789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71829A"/>
                </a:solidFill>
                <a:latin typeface="PingFang SC"/>
              </a:rPr>
              <a:t>依据：README.md；examples/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71829A"/>
                </a:solidFill>
                <a:latin typeface="PingFang SC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389888"/>
            <a:ext cx="5193792" cy="1152144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389888"/>
            <a:ext cx="54864" cy="1152144"/>
          </a:xfrm>
          <a:prstGeom prst="rect">
            <a:avLst/>
          </a:prstGeom>
          <a:solidFill>
            <a:srgbClr val="4DE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36192"/>
            <a:ext cx="48463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4DE0A6"/>
                </a:solidFill>
                <a:latin typeface="PingFang SC"/>
              </a:rPr>
              <a:t>物理与耦合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56816"/>
            <a:ext cx="484632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A9B7CA"/>
                </a:solidFill>
                <a:latin typeface="PingFang SC"/>
              </a:rPr>
              <a:t>碰撞塔、布料、沙轮、液体、烟雾、刚柔耦合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389888"/>
            <a:ext cx="5193792" cy="1152144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53912" y="1389888"/>
            <a:ext cx="54864" cy="1152144"/>
          </a:xfrm>
          <a:prstGeom prst="rect">
            <a:avLst/>
          </a:prstGeom>
          <a:solidFill>
            <a:srgbClr val="28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79" y="1536192"/>
            <a:ext cx="48463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8D7E6"/>
                </a:solidFill>
                <a:latin typeface="PingFang SC"/>
              </a:rPr>
              <a:t>机器人控制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79" y="1956816"/>
            <a:ext cx="484632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A9B7CA"/>
                </a:solidFill>
                <a:latin typeface="PingFang SC"/>
              </a:rPr>
              <a:t>Franka、Go2、IK、差分 IK、重力补偿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2825496"/>
            <a:ext cx="5193792" cy="1152144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2825496"/>
            <a:ext cx="54864" cy="1152144"/>
          </a:xfrm>
          <a:prstGeom prst="rect">
            <a:avLst/>
          </a:prstGeom>
          <a:solidFill>
            <a:srgbClr val="54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971800"/>
            <a:ext cx="48463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548BFF"/>
                </a:solidFill>
                <a:latin typeface="PingFang SC"/>
              </a:rPr>
              <a:t>感知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392424"/>
            <a:ext cx="484632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A9B7CA"/>
                </a:solidFill>
                <a:latin typeface="PingFang SC"/>
              </a:rPr>
              <a:t>RGB、深度、LiDAR、IMU、触觉、接触力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2825496"/>
            <a:ext cx="5193792" cy="1152144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2825496"/>
            <a:ext cx="54864" cy="1152144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79" y="2971800"/>
            <a:ext cx="48463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9B7BFF"/>
                </a:solidFill>
                <a:latin typeface="PingFang SC"/>
              </a:rPr>
              <a:t>学习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79" y="3392424"/>
            <a:ext cx="484632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A9B7CA"/>
                </a:solidFill>
                <a:latin typeface="PingFang SC"/>
              </a:rPr>
              <a:t>无人机悬停 PPO、Go2、抓取、行为克隆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" y="4261104"/>
            <a:ext cx="5193792" cy="1152144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" y="4261104"/>
            <a:ext cx="54864" cy="1152144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407408"/>
            <a:ext cx="48463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FC857"/>
                </a:solidFill>
                <a:latin typeface="PingFang SC"/>
              </a:rPr>
              <a:t>界面与工具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828032"/>
            <a:ext cx="484632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A9B7CA"/>
                </a:solidFill>
                <a:latin typeface="PingFang SC"/>
              </a:rPr>
              <a:t>GUI、键鼠交互、调试绘制、录制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53912" y="4261104"/>
            <a:ext cx="5193792" cy="1152144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53912" y="4261104"/>
            <a:ext cx="54864" cy="115214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79" y="4407408"/>
            <a:ext cx="48463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F6B6B"/>
                </a:solidFill>
                <a:latin typeface="PingFang SC"/>
              </a:rPr>
              <a:t>本分支扩展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79" y="4828032"/>
            <a:ext cx="484632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A9B7CA"/>
                </a:solidFill>
                <a:latin typeface="PingFang SC"/>
              </a:rPr>
              <a:t>移动机器人、开放词汇目标、RGB-D、A*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852160"/>
            <a:ext cx="10789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28D7E6"/>
                </a:solidFill>
                <a:latin typeface="PingFang SC"/>
              </a:rPr>
              <a:t>选择案例的原则：先验证物理与接口，再增加感知和算法复杂度。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1097280"/>
            <a:ext cx="1143000" cy="1143000"/>
          </a:xfrm>
          <a:prstGeom prst="ellipse">
            <a:avLst/>
          </a:prstGeom>
          <a:solidFill>
            <a:srgbClr val="28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35024"/>
            <a:ext cx="11430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09111F"/>
                </a:solidFill>
                <a:latin typeface="PingFang S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57400" y="1216152"/>
            <a:ext cx="9052560" cy="7772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7FAFC"/>
                </a:solidFill>
                <a:latin typeface="PingFang SC"/>
              </a:rPr>
              <a:t>无人机：从 URDF 到策略学习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84831" y="2084831"/>
            <a:ext cx="7955279" cy="7315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A9B7CA"/>
                </a:solidFill>
                <a:latin typeface="PingFang SC"/>
              </a:rPr>
              <a:t>以仓库中的 Crazyflie 2.X 为主线，拆解模型、动力、控制与训练环境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4831" y="3127248"/>
            <a:ext cx="8046720" cy="18288"/>
          </a:xfrm>
          <a:prstGeom prst="rect">
            <a:avLst/>
          </a:prstGeom>
          <a:solidFill>
            <a:srgbClr val="263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84831" y="340156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8D7E6"/>
                </a:solidFill>
                <a:latin typeface="PingFang SC"/>
              </a:rPr>
              <a:t>GENESIS WORLD · UAV · V2X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4572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8D7E6"/>
                </a:solidFill>
                <a:latin typeface="PingFang SC"/>
              </a:rPr>
              <a:t>04 · 无人机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7FAFC"/>
                </a:solidFill>
                <a:latin typeface="PingFang SC"/>
              </a:rPr>
              <a:t>无人机案例全景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731520" cy="32004"/>
          </a:xfrm>
          <a:prstGeom prst="rect">
            <a:avLst/>
          </a:prstGeom>
          <a:solidFill>
            <a:srgbClr val="28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6547104"/>
            <a:ext cx="10789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71829A"/>
                </a:solidFill>
                <a:latin typeface="PingFang SC"/>
              </a:rPr>
              <a:t>依据：examples/drone/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71829A"/>
                </a:solidFill>
                <a:latin typeface="PingFang SC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44752"/>
            <a:ext cx="5166360" cy="1719072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44752"/>
            <a:ext cx="54864" cy="1719072"/>
          </a:xfrm>
          <a:prstGeom prst="rect">
            <a:avLst/>
          </a:prstGeom>
          <a:solidFill>
            <a:srgbClr val="28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591056"/>
            <a:ext cx="481888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28D7E6"/>
                </a:solidFill>
                <a:latin typeface="PingFang SC"/>
              </a:rPr>
              <a:t>键盘飞行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11680"/>
            <a:ext cx="4818888" cy="102412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B7CA"/>
                </a:solidFill>
                <a:latin typeface="PingFang SC"/>
              </a:rPr>
              <a:t>差分 RPM；理解执行器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633472"/>
            <a:ext cx="4718304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F7FAFC"/>
                </a:solidFill>
                <a:latin typeface="SFMono-Regular"/>
              </a:rPr>
              <a:t>interactive_drone.py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44752"/>
            <a:ext cx="5166360" cy="1719072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444752"/>
            <a:ext cx="54864" cy="1719072"/>
          </a:xfrm>
          <a:prstGeom prst="rect">
            <a:avLst/>
          </a:prstGeom>
          <a:solidFill>
            <a:srgbClr val="54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591056"/>
            <a:ext cx="481888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548BFF"/>
                </a:solidFill>
                <a:latin typeface="PingFang SC"/>
              </a:rPr>
              <a:t>预定义轨迹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011680"/>
            <a:ext cx="4818888" cy="102412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B7CA"/>
                </a:solidFill>
                <a:latin typeface="PingFang SC"/>
              </a:rPr>
              <a:t>嵌入式 RPM 序列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2633472"/>
            <a:ext cx="4718304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F7FAFC"/>
                </a:solidFill>
                <a:latin typeface="SFMono-Regular"/>
              </a:rPr>
              <a:t>fly.py --vis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83864"/>
            <a:ext cx="5166360" cy="1719072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483864"/>
            <a:ext cx="54864" cy="1719072"/>
          </a:xfrm>
          <a:prstGeom prst="rect">
            <a:avLst/>
          </a:prstGeom>
          <a:solidFill>
            <a:srgbClr val="4DE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3630168"/>
            <a:ext cx="481888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4DE0A6"/>
                </a:solidFill>
                <a:latin typeface="PingFang SC"/>
              </a:rPr>
              <a:t>PID 航点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050791"/>
            <a:ext cx="4818888" cy="102412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B7CA"/>
                </a:solidFill>
                <a:latin typeface="PingFang SC"/>
              </a:rPr>
              <a:t>位置→速度→姿态→mixer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4672584"/>
            <a:ext cx="4718304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F7FAFC"/>
                </a:solidFill>
                <a:latin typeface="SFMono-Regular"/>
              </a:rPr>
              <a:t>fly_route.py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483864"/>
            <a:ext cx="5166360" cy="1719072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483864"/>
            <a:ext cx="54864" cy="1719072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3630168"/>
            <a:ext cx="481888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9B7BFF"/>
                </a:solidFill>
                <a:latin typeface="PingFang SC"/>
              </a:rPr>
              <a:t>PPO 悬停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4050791"/>
            <a:ext cx="4818888" cy="102412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B7CA"/>
                </a:solidFill>
                <a:latin typeface="PingFang SC"/>
              </a:rPr>
              <a:t>8192 环境；rsl-rl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656" y="4672584"/>
            <a:ext cx="4718304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F7FAFC"/>
                </a:solidFill>
                <a:latin typeface="SFMono-Regular"/>
              </a:rPr>
              <a:t>hover_train/eval.py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669280"/>
            <a:ext cx="107899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28D7E6"/>
                </a:solidFill>
                <a:latin typeface="PingFang SC"/>
              </a:rPr>
              <a:t>由浅入深：执行器接口 → 稳定控制 → 点到点飞行 → 策略学习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4572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8D7E6"/>
                </a:solidFill>
                <a:latin typeface="PingFang SC"/>
              </a:rPr>
              <a:t>04 · 无人机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7FAFC"/>
                </a:solidFill>
                <a:latin typeface="PingFang SC"/>
              </a:rPr>
              <a:t>Crazyflie 2.X：模型由哪些部分构成？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731520" cy="32004"/>
          </a:xfrm>
          <a:prstGeom prst="rect">
            <a:avLst/>
          </a:prstGeom>
          <a:solidFill>
            <a:srgbClr val="28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6547104"/>
            <a:ext cx="10789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71829A"/>
                </a:solidFill>
                <a:latin typeface="PingFang SC"/>
              </a:rPr>
              <a:t>依据：genesis/assets/urdf/drones/cf2x.urdf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71829A"/>
                </a:solidFill>
                <a:latin typeface="PingFang SC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389888"/>
            <a:ext cx="5532120" cy="4553712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920240" y="2331720"/>
            <a:ext cx="2926080" cy="2697480"/>
          </a:xfrm>
          <a:prstGeom prst="line">
            <a:avLst/>
          </a:prstGeom>
          <a:ln w="114300">
            <a:solidFill>
              <a:srgbClr val="728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920240" y="2331720"/>
            <a:ext cx="2926080" cy="2697480"/>
          </a:xfrm>
          <a:prstGeom prst="line">
            <a:avLst/>
          </a:prstGeom>
          <a:ln w="114300">
            <a:solidFill>
              <a:srgbClr val="728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880360" y="3182112"/>
            <a:ext cx="1005840" cy="1005840"/>
          </a:xfrm>
          <a:prstGeom prst="ellipse">
            <a:avLst/>
          </a:prstGeom>
          <a:solidFill>
            <a:srgbClr val="17263A"/>
          </a:solidFill>
          <a:ln w="13970">
            <a:solidFill>
              <a:srgbClr val="2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3593592"/>
            <a:ext cx="10058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28D7E6"/>
                </a:solidFill>
                <a:latin typeface="PingFang SC"/>
              </a:rPr>
              <a:t>27 g</a:t>
            </a:r>
          </a:p>
        </p:txBody>
      </p:sp>
      <p:sp>
        <p:nvSpPr>
          <p:cNvPr id="12" name="Oval 11"/>
          <p:cNvSpPr/>
          <p:nvPr/>
        </p:nvSpPr>
        <p:spPr>
          <a:xfrm>
            <a:off x="1874519" y="2267712"/>
            <a:ext cx="530352" cy="530352"/>
          </a:xfrm>
          <a:prstGeom prst="ellipse">
            <a:avLst/>
          </a:prstGeom>
          <a:solidFill>
            <a:srgbClr val="09111F"/>
          </a:solidFill>
          <a:ln w="13970">
            <a:solidFill>
              <a:srgbClr val="4DE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4519" y="2368296"/>
            <a:ext cx="530352" cy="173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7FAFC"/>
                </a:solidFill>
                <a:latin typeface="PingFang SC"/>
              </a:rPr>
              <a:t>P1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194560"/>
            <a:ext cx="2286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4DE0A6"/>
                </a:solidFill>
                <a:latin typeface="PingFang SC"/>
              </a:rPr>
              <a:t>+</a:t>
            </a:r>
          </a:p>
        </p:txBody>
      </p:sp>
      <p:sp>
        <p:nvSpPr>
          <p:cNvPr id="15" name="Oval 14"/>
          <p:cNvSpPr/>
          <p:nvPr/>
        </p:nvSpPr>
        <p:spPr>
          <a:xfrm>
            <a:off x="4709160" y="2267712"/>
            <a:ext cx="530352" cy="530352"/>
          </a:xfrm>
          <a:prstGeom prst="ellipse">
            <a:avLst/>
          </a:prstGeom>
          <a:solidFill>
            <a:srgbClr val="09111F"/>
          </a:solidFill>
          <a:ln w="13970">
            <a:solidFill>
              <a:srgbClr val="9B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2368296"/>
            <a:ext cx="530352" cy="173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7FAFC"/>
                </a:solidFill>
                <a:latin typeface="PingFang SC"/>
              </a:rPr>
              <a:t>P0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8" y="2194560"/>
            <a:ext cx="2286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9B7BFF"/>
                </a:solidFill>
                <a:latin typeface="PingFang SC"/>
              </a:rPr>
              <a:t>−</a:t>
            </a:r>
          </a:p>
        </p:txBody>
      </p:sp>
      <p:sp>
        <p:nvSpPr>
          <p:cNvPr id="18" name="Oval 17"/>
          <p:cNvSpPr/>
          <p:nvPr/>
        </p:nvSpPr>
        <p:spPr>
          <a:xfrm>
            <a:off x="1874519" y="4709160"/>
            <a:ext cx="530352" cy="530352"/>
          </a:xfrm>
          <a:prstGeom prst="ellipse">
            <a:avLst/>
          </a:prstGeom>
          <a:solidFill>
            <a:srgbClr val="09111F"/>
          </a:solidFill>
          <a:ln w="13970">
            <a:solidFill>
              <a:srgbClr val="9B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74519" y="4809744"/>
            <a:ext cx="530352" cy="173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7FAFC"/>
                </a:solidFill>
                <a:latin typeface="PingFang SC"/>
              </a:rPr>
              <a:t>P2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58568" y="4636008"/>
            <a:ext cx="2286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9B7BFF"/>
                </a:solidFill>
                <a:latin typeface="PingFang SC"/>
              </a:rPr>
              <a:t>−</a:t>
            </a:r>
          </a:p>
        </p:txBody>
      </p:sp>
      <p:sp>
        <p:nvSpPr>
          <p:cNvPr id="21" name="Oval 20"/>
          <p:cNvSpPr/>
          <p:nvPr/>
        </p:nvSpPr>
        <p:spPr>
          <a:xfrm>
            <a:off x="4709160" y="4709160"/>
            <a:ext cx="530352" cy="530352"/>
          </a:xfrm>
          <a:prstGeom prst="ellipse">
            <a:avLst/>
          </a:prstGeom>
          <a:solidFill>
            <a:srgbClr val="09111F"/>
          </a:solidFill>
          <a:ln w="13970">
            <a:solidFill>
              <a:srgbClr val="4DE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4809744"/>
            <a:ext cx="530352" cy="173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7FAFC"/>
                </a:solidFill>
                <a:latin typeface="PingFang SC"/>
              </a:rPr>
              <a:t>P3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3208" y="4636008"/>
            <a:ext cx="2286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4DE0A6"/>
                </a:solidFill>
                <a:latin typeface="PingFang SC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394960"/>
            <a:ext cx="44348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A9B7CA"/>
                </a:solidFill>
                <a:latin typeface="PingFang SC"/>
              </a:rPr>
              <a:t>旋翼力臂： (±0.028, ±0.028, 0) 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1554480"/>
            <a:ext cx="1143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B7CA"/>
                </a:solidFill>
                <a:latin typeface="PingFang SC"/>
              </a:rPr>
              <a:t>质量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9831" y="1463040"/>
            <a:ext cx="3611880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7FAFC"/>
                </a:solidFill>
                <a:latin typeface="PingFang SC"/>
              </a:rPr>
              <a:t>0.027 kg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423160"/>
            <a:ext cx="1143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B7CA"/>
                </a:solidFill>
                <a:latin typeface="PingFang SC"/>
              </a:rPr>
              <a:t>惯量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99831" y="2331720"/>
            <a:ext cx="3611880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7FAFC"/>
                </a:solidFill>
                <a:latin typeface="PingFang SC"/>
              </a:rPr>
              <a:t>Ixx=Iyy=1.4e−5</a:t>
            </a:r>
            <a:br/>
            <a:r>
              <a:rPr sz="1300" b="1">
                <a:solidFill>
                  <a:srgbClr val="F7FAFC"/>
                </a:solidFill>
                <a:latin typeface="PingFang SC"/>
              </a:rPr>
              <a:t>Izz=2.17e−5 kg·m²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291840"/>
            <a:ext cx="1143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B7CA"/>
                </a:solidFill>
                <a:latin typeface="PingFang SC"/>
              </a:rPr>
              <a:t>推力系数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99831" y="3200400"/>
            <a:ext cx="3611880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7FAFC"/>
                </a:solidFill>
                <a:latin typeface="PingFang SC"/>
              </a:rPr>
              <a:t>KF = 3.16e−10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160520"/>
            <a:ext cx="1143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B7CA"/>
                </a:solidFill>
                <a:latin typeface="PingFang SC"/>
              </a:rPr>
              <a:t>反扭矩系数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99831" y="4069079"/>
            <a:ext cx="3611880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7FAFC"/>
                </a:solidFill>
                <a:latin typeface="PingFang SC"/>
              </a:rPr>
              <a:t>KM = 7.94e−12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5029200"/>
            <a:ext cx="1143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B7CA"/>
                </a:solidFill>
                <a:latin typeface="PingFang SC"/>
              </a:rPr>
              <a:t>碰撞近似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99831" y="4937759"/>
            <a:ext cx="3611880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7FAFC"/>
                </a:solidFill>
                <a:latin typeface="PingFang SC"/>
              </a:rPr>
              <a:t>Ø 0.12 m × 0.025 m 圆柱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4572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8D7E6"/>
                </a:solidFill>
                <a:latin typeface="PingFang SC"/>
              </a:rPr>
              <a:t>04 · 无人机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7FAFC"/>
                </a:solidFill>
                <a:latin typeface="PingFang SC"/>
              </a:rPr>
              <a:t>旋翼动力如何进入刚体求解器？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731520" cy="32004"/>
          </a:xfrm>
          <a:prstGeom prst="rect">
            <a:avLst/>
          </a:prstGeom>
          <a:solidFill>
            <a:srgbClr val="28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6547104"/>
            <a:ext cx="10789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71829A"/>
                </a:solidFill>
                <a:latin typeface="PingFang SC"/>
              </a:rPr>
              <a:t>依据：drone_entity.py；rigid/abd/accessor.py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71829A"/>
                </a:solidFill>
                <a:latin typeface="PingFang SC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4892040" cy="2761488"/>
          </a:xfrm>
          <a:prstGeom prst="roundRect">
            <a:avLst/>
          </a:prstGeom>
          <a:solidFill>
            <a:srgbClr val="17263A"/>
          </a:solidFill>
          <a:ln w="13970">
            <a:solidFill>
              <a:srgbClr val="2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38528"/>
            <a:ext cx="4251960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28D7E6"/>
                </a:solidFill>
                <a:latin typeface="PingFang SC"/>
              </a:rPr>
              <a:t>Fᵢ = [0, 0, KF · RPMᵢ²]ᵀ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70632"/>
            <a:ext cx="4251960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>
                <a:solidFill>
                  <a:srgbClr val="9B7BFF"/>
                </a:solidFill>
                <a:latin typeface="PingFang SC"/>
              </a:rPr>
              <a:t>Mᵢ = [0, 0, sᵢ KM · RPMᵢ²]ᵀ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721608"/>
            <a:ext cx="4407408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A9B7CA"/>
                </a:solidFill>
                <a:latin typeface="PingFang SC"/>
              </a:rPr>
              <a:t>局部坐标施力 + 旋翼位置力臂 → roll / pitch / yaw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70448" y="1463040"/>
            <a:ext cx="5413248" cy="1216152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70448" y="1463040"/>
            <a:ext cx="54864" cy="1216152"/>
          </a:xfrm>
          <a:prstGeom prst="rect">
            <a:avLst/>
          </a:prstGeom>
          <a:solidFill>
            <a:srgbClr val="4DE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71616" y="1609344"/>
            <a:ext cx="5065776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4DE0A6"/>
                </a:solidFill>
                <a:latin typeface="PingFang SC"/>
              </a:rPr>
              <a:t>RPM 接口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71616" y="2029968"/>
            <a:ext cx="5065776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A9B7CA"/>
                </a:solidFill>
                <a:latin typeface="PingFang SC"/>
              </a:rPr>
              <a:t>每步调用一次；支持 (4,) 与 (B,4)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70448" y="2898648"/>
            <a:ext cx="5413248" cy="1325880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70448" y="2898648"/>
            <a:ext cx="54864" cy="132588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1616" y="3044952"/>
            <a:ext cx="5065776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C857"/>
                </a:solidFill>
                <a:latin typeface="PingFang SC"/>
              </a:rPr>
              <a:t>悬停转速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71616" y="3465576"/>
            <a:ext cx="5065776" cy="6309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A9B7CA"/>
                </a:solidFill>
                <a:latin typeface="PingFang SC"/>
              </a:rPr>
              <a:t>√(mg / 4KF) ≈ 14,469 RPM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4919472"/>
            <a:ext cx="1056132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FF6B6B"/>
                </a:solidFill>
                <a:latin typeface="PingFang SC"/>
              </a:rPr>
              <a:t>这是低阶旋翼模型，不是 CFD；风场、下洗和地面效应需要扩展。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4572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8D7E6"/>
                </a:solidFill>
                <a:latin typeface="PingFang SC"/>
              </a:rPr>
              <a:t>04 · 无人机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7FAFC"/>
                </a:solidFill>
                <a:latin typeface="PingFang SC"/>
              </a:rPr>
              <a:t>PID 航点案例：一个可解释的飞行控制基线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731520" cy="32004"/>
          </a:xfrm>
          <a:prstGeom prst="rect">
            <a:avLst/>
          </a:prstGeom>
          <a:solidFill>
            <a:srgbClr val="28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6547104"/>
            <a:ext cx="10789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71829A"/>
                </a:solidFill>
                <a:latin typeface="PingFang SC"/>
              </a:rPr>
              <a:t>依据：examples/drone/fly_route.py；quadcopter_controller.py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71829A"/>
                </a:solidFill>
                <a:latin typeface="PingFang SC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56231"/>
            <a:ext cx="1874519" cy="1353312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9B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130552"/>
            <a:ext cx="1636776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9B7BFF"/>
                </a:solidFill>
                <a:latin typeface="PingFang SC"/>
              </a:rPr>
              <a:t>目标点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633472"/>
            <a:ext cx="1636776" cy="2834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A9B7CA"/>
                </a:solidFill>
                <a:latin typeface="PingFang SC"/>
              </a:rPr>
              <a:t>x*, y*, z*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86584" y="2532888"/>
            <a:ext cx="384048" cy="0"/>
          </a:xfrm>
          <a:prstGeom prst="line">
            <a:avLst/>
          </a:prstGeom>
          <a:ln w="25400">
            <a:solidFill>
              <a:srgbClr val="28D7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4639" y="1856231"/>
            <a:ext cx="1874519" cy="1353312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3511" y="2130552"/>
            <a:ext cx="1636776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28D7E6"/>
                </a:solidFill>
                <a:latin typeface="PingFang SC"/>
              </a:rPr>
              <a:t>位置环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1" y="2633472"/>
            <a:ext cx="1636776" cy="2834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A9B7CA"/>
                </a:solidFill>
                <a:latin typeface="PingFang SC"/>
              </a:rPr>
              <a:t>误差 → 期望速度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18304" y="2532888"/>
            <a:ext cx="384048" cy="0"/>
          </a:xfrm>
          <a:prstGeom prst="line">
            <a:avLst/>
          </a:prstGeom>
          <a:ln w="25400">
            <a:solidFill>
              <a:srgbClr val="28D7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66359" y="1856231"/>
            <a:ext cx="1874519" cy="1353312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4DE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85231" y="2130552"/>
            <a:ext cx="1636776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4DE0A6"/>
                </a:solidFill>
                <a:latin typeface="PingFang SC"/>
              </a:rPr>
              <a:t>速度环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5231" y="2633472"/>
            <a:ext cx="1636776" cy="2834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A9B7CA"/>
                </a:solidFill>
                <a:latin typeface="PingFang SC"/>
              </a:rPr>
              <a:t>速度误差 → 推力/倾斜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50023" y="2532888"/>
            <a:ext cx="384048" cy="0"/>
          </a:xfrm>
          <a:prstGeom prst="line">
            <a:avLst/>
          </a:prstGeom>
          <a:ln w="25400">
            <a:solidFill>
              <a:srgbClr val="28D7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98079" y="1856231"/>
            <a:ext cx="1874519" cy="1353312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54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16952" y="2130552"/>
            <a:ext cx="1636776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548BFF"/>
                </a:solidFill>
                <a:latin typeface="PingFang SC"/>
              </a:rPr>
              <a:t>姿态环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6952" y="2633472"/>
            <a:ext cx="1636776" cy="2834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A9B7CA"/>
                </a:solidFill>
                <a:latin typeface="PingFang SC"/>
              </a:rPr>
              <a:t>roll / pitch / yaw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81744" y="2532888"/>
            <a:ext cx="384048" cy="0"/>
          </a:xfrm>
          <a:prstGeom prst="line">
            <a:avLst/>
          </a:prstGeom>
          <a:ln w="25400">
            <a:solidFill>
              <a:srgbClr val="28D7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829800" y="1856231"/>
            <a:ext cx="1874519" cy="1353312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48672" y="2130552"/>
            <a:ext cx="1636776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FFC857"/>
                </a:solidFill>
                <a:latin typeface="PingFang SC"/>
              </a:rPr>
              <a:t>Mixer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8672" y="2633472"/>
            <a:ext cx="1636776" cy="2834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A9B7CA"/>
                </a:solidFill>
                <a:latin typeface="PingFang SC"/>
              </a:rPr>
              <a:t>M1…M4 RPM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77639"/>
            <a:ext cx="3383280" cy="1371600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77639"/>
            <a:ext cx="54864" cy="1371600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4123944"/>
            <a:ext cx="303580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9B7BFF"/>
                </a:solidFill>
                <a:latin typeface="PingFang SC"/>
              </a:rPr>
              <a:t>航点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4544568"/>
            <a:ext cx="3035808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B7CA"/>
                </a:solidFill>
                <a:latin typeface="PingFang SC"/>
              </a:rPr>
              <a:t>(1,1,2) → (−1,2,1) → (0,0,0.5)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07408" y="3977639"/>
            <a:ext cx="3383280" cy="1371600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07408" y="3977639"/>
            <a:ext cx="54864" cy="1371600"/>
          </a:xfrm>
          <a:prstGeom prst="rect">
            <a:avLst/>
          </a:prstGeom>
          <a:solidFill>
            <a:srgbClr val="4DE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08576" y="4123944"/>
            <a:ext cx="303580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4DE0A6"/>
                </a:solidFill>
                <a:latin typeface="PingFang SC"/>
              </a:rPr>
              <a:t>停止条件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08576" y="4544568"/>
            <a:ext cx="3035808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B7CA"/>
                </a:solidFill>
                <a:latin typeface="PingFang SC"/>
              </a:rPr>
              <a:t>距离 &lt; 0.1 m，或单点 1000 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56448" y="3977639"/>
            <a:ext cx="3383280" cy="1371600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56448" y="3977639"/>
            <a:ext cx="54864" cy="137160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57616" y="4123944"/>
            <a:ext cx="303580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FC857"/>
                </a:solidFill>
                <a:latin typeface="PingFang SC"/>
              </a:rPr>
              <a:t>输出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57616" y="4544568"/>
            <a:ext cx="3035808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B7CA"/>
                </a:solidFill>
                <a:latin typeface="PingFang SC"/>
              </a:rPr>
              <a:t>out/fly_route.mp4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5742432"/>
            <a:ext cx="1078992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6B6B"/>
                </a:solidFill>
                <a:latin typeface="PingFang SC"/>
              </a:rPr>
              <a:t>局限：点到点控制 ≠ 三维避障与动力学可行轨迹规划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4572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8D7E6"/>
                </a:solidFill>
                <a:latin typeface="PingFang SC"/>
              </a:rPr>
              <a:t>04 · 无人机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7FAFC"/>
                </a:solidFill>
                <a:latin typeface="PingFang SC"/>
              </a:rPr>
              <a:t>PPO 悬停：环境、策略与奖励如何闭环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731520" cy="32004"/>
          </a:xfrm>
          <a:prstGeom prst="rect">
            <a:avLst/>
          </a:prstGeom>
          <a:solidFill>
            <a:srgbClr val="28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6547104"/>
            <a:ext cx="10789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71829A"/>
                </a:solidFill>
                <a:latin typeface="PingFang SC"/>
              </a:rPr>
              <a:t>依据：examples/drone/hover_env.py；hover_train.py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71829A"/>
                </a:solidFill>
                <a:latin typeface="PingFang SC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2249424" cy="1252728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47088"/>
            <a:ext cx="2029968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28D7E6"/>
                </a:solidFill>
                <a:latin typeface="PingFang SC"/>
              </a:rPr>
              <a:t>8192× 环境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86000"/>
            <a:ext cx="202996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A9B7CA"/>
                </a:solidFill>
                <a:latin typeface="PingFang SC"/>
              </a:rPr>
              <a:t>100 Hz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1627632"/>
            <a:ext cx="2249424" cy="1252728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54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847088"/>
            <a:ext cx="2029968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548BFF"/>
                </a:solidFill>
                <a:latin typeface="PingFang SC"/>
              </a:rPr>
              <a:t>17 维观测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286000"/>
            <a:ext cx="202996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A9B7CA"/>
                </a:solidFill>
                <a:latin typeface="PingFang SC"/>
              </a:rPr>
              <a:t>相对位置 / 姿态 / 速度 / 上一动作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27632"/>
            <a:ext cx="2249424" cy="1252728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9B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1847088"/>
            <a:ext cx="2029968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9B7BFF"/>
                </a:solidFill>
                <a:latin typeface="PingFang SC"/>
              </a:rPr>
              <a:t>PPO Actor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286000"/>
            <a:ext cx="202996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A9B7CA"/>
                </a:solidFill>
                <a:latin typeface="PingFang SC"/>
              </a:rPr>
              <a:t>128×128 tanh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08592" y="1627632"/>
            <a:ext cx="2249424" cy="1252728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4DE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19" y="1847088"/>
            <a:ext cx="2029968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4DE0A6"/>
                </a:solidFill>
                <a:latin typeface="PingFang SC"/>
              </a:rPr>
              <a:t>4 维动作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19" y="2286000"/>
            <a:ext cx="202996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A9B7CA"/>
                </a:solidFill>
                <a:latin typeface="PingFang SC"/>
              </a:rPr>
              <a:t>RPM 扰动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07792" y="2258568"/>
            <a:ext cx="512064" cy="0"/>
          </a:xfrm>
          <a:prstGeom prst="line">
            <a:avLst/>
          </a:prstGeom>
          <a:ln w="25400">
            <a:solidFill>
              <a:srgbClr val="28D7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806440" y="2258568"/>
            <a:ext cx="512064" cy="0"/>
          </a:xfrm>
          <a:prstGeom prst="line">
            <a:avLst/>
          </a:prstGeom>
          <a:ln w="25400">
            <a:solidFill>
              <a:srgbClr val="28D7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705088" y="2258568"/>
            <a:ext cx="512064" cy="0"/>
          </a:xfrm>
          <a:prstGeom prst="line">
            <a:avLst/>
          </a:prstGeom>
          <a:ln w="25400">
            <a:solidFill>
              <a:srgbClr val="28D7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828800" y="2907792"/>
            <a:ext cx="8595360" cy="475488"/>
          </a:xfrm>
          <a:prstGeom prst="line">
            <a:avLst/>
          </a:prstGeom>
          <a:ln w="19050">
            <a:solidFill>
              <a:srgbClr val="4DE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645152" y="3127248"/>
            <a:ext cx="30175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4DE0A6"/>
                </a:solidFill>
                <a:latin typeface="PingFang SC"/>
              </a:rPr>
              <a:t>reward / done / next obs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776472"/>
            <a:ext cx="3657600" cy="1572768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776472"/>
            <a:ext cx="54864" cy="1572768"/>
          </a:xfrm>
          <a:prstGeom prst="rect">
            <a:avLst/>
          </a:prstGeom>
          <a:solidFill>
            <a:srgbClr val="4DE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" y="3922776"/>
            <a:ext cx="331012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4DE0A6"/>
                </a:solidFill>
                <a:latin typeface="PingFang SC"/>
              </a:rPr>
              <a:t>奖励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" y="4315968"/>
            <a:ext cx="3355848" cy="93268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  <a:defRPr sz="1250" b="0">
                <a:solidFill>
                  <a:srgbClr val="A9B7CA"/>
                </a:solidFill>
                <a:latin typeface="PingFang SC"/>
              </a:defRPr>
            </a:pPr>
            <a:r>
              <a:t>•  接近目标 +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250" b="0">
                <a:solidFill>
                  <a:srgbClr val="A9B7CA"/>
                </a:solidFill>
                <a:latin typeface="PingFang SC"/>
              </a:defRPr>
            </a:pPr>
            <a:r>
              <a:t>•  动作抖动 / 角速度 −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250" b="0">
                <a:solidFill>
                  <a:srgbClr val="A9B7CA"/>
                </a:solidFill>
                <a:latin typeface="PingFang SC"/>
              </a:defRPr>
            </a:pPr>
            <a:r>
              <a:t>•  坠毁 −10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3776472"/>
            <a:ext cx="3218688" cy="1572768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26280" y="3776472"/>
            <a:ext cx="54864" cy="157276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27448" y="3922776"/>
            <a:ext cx="2871216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FC857"/>
                </a:solidFill>
                <a:latin typeface="PingFang SC"/>
              </a:rPr>
              <a:t>外部依赖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0872" y="4315968"/>
            <a:ext cx="2916936" cy="93268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  <a:defRPr sz="1250" b="0">
                <a:solidFill>
                  <a:srgbClr val="A9B7CA"/>
                </a:solidFill>
                <a:latin typeface="PingFang SC"/>
              </a:defRPr>
            </a:pPr>
            <a:r>
              <a:t>•  rsl-rl-lib ≥ 5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250" b="0">
                <a:solidFill>
                  <a:srgbClr val="A9B7CA"/>
                </a:solidFill>
                <a:latin typeface="PingFang SC"/>
              </a:defRPr>
            </a:pPr>
            <a:r>
              <a:t>•  PPO 不是 Genesis 内置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250" b="0">
                <a:solidFill>
                  <a:srgbClr val="A9B7CA"/>
                </a:solidFill>
                <a:latin typeface="PingFang SC"/>
              </a:defRPr>
            </a:pPr>
            <a:r>
              <a:t>•  TensorBoard 日志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73568" y="3776472"/>
            <a:ext cx="3575304" cy="1572768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73568" y="3776472"/>
            <a:ext cx="54864" cy="157276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74736" y="3922776"/>
            <a:ext cx="3227832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F6B6B"/>
                </a:solidFill>
                <a:latin typeface="PingFang SC"/>
              </a:rPr>
              <a:t>实现提醒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315968"/>
            <a:ext cx="3273552" cy="93268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  <a:defRPr sz="1250" b="0">
                <a:solidFill>
                  <a:srgbClr val="A9B7CA"/>
                </a:solidFill>
                <a:latin typeface="PingFang SC"/>
              </a:defRPr>
            </a:pPr>
            <a:r>
              <a:t>•  同名 logs 会被删除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250" b="0">
                <a:solidFill>
                  <a:srgbClr val="A9B7CA"/>
                </a:solidFill>
                <a:latin typeface="PingFang SC"/>
              </a:defRPr>
            </a:pPr>
            <a:r>
              <a:t>•  action latency 开关未生效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250" b="0">
                <a:solidFill>
                  <a:srgbClr val="A9B7CA"/>
                </a:solidFill>
                <a:latin typeface="PingFang SC"/>
              </a:defRPr>
            </a:pPr>
            <a:r>
              <a:t>•  先小批量再 8192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4572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8D7E6"/>
                </a:solidFill>
                <a:latin typeface="PingFang SC"/>
              </a:rPr>
              <a:t>05 · 规划与扩展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7FAFC"/>
                </a:solidFill>
                <a:latin typeface="PingFang SC"/>
              </a:rPr>
              <a:t>从“能飞”到“会规划”：推荐分层，而非端到端堆叠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731520" cy="32004"/>
          </a:xfrm>
          <a:prstGeom prst="rect">
            <a:avLst/>
          </a:prstGeom>
          <a:solidFill>
            <a:srgbClr val="28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6547104"/>
            <a:ext cx="10789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71829A"/>
                </a:solidFill>
                <a:latin typeface="PingFang SC"/>
              </a:rPr>
              <a:t>依据：fly_route.py；规划模块为建议架构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71829A"/>
                </a:solidFill>
                <a:latin typeface="PingFang SC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399032"/>
            <a:ext cx="10058400" cy="594360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9B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4168" y="1545336"/>
            <a:ext cx="15087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9B7BFF"/>
                </a:solidFill>
                <a:latin typeface="PingFang SC"/>
              </a:rPr>
              <a:t>任务层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545336"/>
            <a:ext cx="7726679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F7FAFC"/>
                </a:solidFill>
                <a:latin typeface="PingFang SC"/>
              </a:rPr>
              <a:t>语义目标 · 任务分配 · 航点序列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267712"/>
            <a:ext cx="10058400" cy="594360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44168" y="2414016"/>
            <a:ext cx="15087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8D7E6"/>
                </a:solidFill>
                <a:latin typeface="PingFang SC"/>
              </a:rPr>
              <a:t>全局规划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414016"/>
            <a:ext cx="7726679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F7FAFC"/>
                </a:solidFill>
                <a:latin typeface="PingFang SC"/>
              </a:rPr>
              <a:t>3D A* / RRT* / Kinodynamic planning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3136391"/>
            <a:ext cx="10058400" cy="594360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4DE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4168" y="3282696"/>
            <a:ext cx="15087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4DE0A6"/>
                </a:solidFill>
                <a:latin typeface="PingFang SC"/>
              </a:rPr>
              <a:t>局部安全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282696"/>
            <a:ext cx="7726679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F7FAFC"/>
                </a:solidFill>
                <a:latin typeface="PingFang SC"/>
              </a:rPr>
              <a:t>Depth / LiDAR · 局部地图 · 动态重规划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4005072"/>
            <a:ext cx="10058400" cy="594360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54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44168" y="4151376"/>
            <a:ext cx="15087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548BFF"/>
                </a:solidFill>
                <a:latin typeface="PingFang SC"/>
              </a:rPr>
              <a:t>轨迹控制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151376"/>
            <a:ext cx="7726679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F7FAFC"/>
                </a:solidFill>
                <a:latin typeface="PingFang SC"/>
              </a:rPr>
              <a:t>MPC / PID · 速度与倾角约束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4873752"/>
            <a:ext cx="10058400" cy="594360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44168" y="5020056"/>
            <a:ext cx="15087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FC857"/>
                </a:solidFill>
                <a:latin typeface="PingFang SC"/>
              </a:rPr>
              <a:t>执行器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5020056"/>
            <a:ext cx="7726679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F7FAFC"/>
                </a:solidFill>
                <a:latin typeface="PingFang SC"/>
              </a:rPr>
              <a:t>Mixer → set_propellers_rpm()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5797296"/>
            <a:ext cx="106527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28D7E6"/>
                </a:solidFill>
                <a:latin typeface="PingFang SC"/>
              </a:rPr>
              <a:t>学习算法优先替换局部策略或控制残差；全局规划和安全过滤保留可解释基线。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4572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8D7E6"/>
                </a:solidFill>
                <a:latin typeface="PingFang SC"/>
              </a:rPr>
              <a:t>05 · 规划与扩展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7FAFC"/>
                </a:solidFill>
                <a:latin typeface="PingFang SC"/>
              </a:rPr>
              <a:t>本仓库扩展案例：自然语言目标 → 几何安全路径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731520" cy="32004"/>
          </a:xfrm>
          <a:prstGeom prst="rect">
            <a:avLst/>
          </a:prstGeom>
          <a:solidFill>
            <a:srgbClr val="28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6547104"/>
            <a:ext cx="10789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71829A"/>
                </a:solidFill>
                <a:latin typeface="PingFang SC"/>
              </a:rPr>
              <a:t>依据：examples/mobile_robot/room_navigation_vision.py（非上游官方案例）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71829A"/>
                </a:solidFill>
                <a:latin typeface="PingFang SC"/>
              </a:rPr>
              <a:t>17</a:t>
            </a:r>
          </a:p>
        </p:txBody>
      </p:sp>
      <p:pic>
        <p:nvPicPr>
          <p:cNvPr id="7" name="Picture 6" descr="frame_00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4617720" cy="346557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0080" y="4928616"/>
            <a:ext cx="4617720" cy="457200"/>
          </a:xfrm>
          <a:prstGeom prst="rect">
            <a:avLst/>
          </a:prstGeom>
          <a:solidFill>
            <a:srgbClr val="17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5047488"/>
            <a:ext cx="4361688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A9B7CA"/>
                </a:solidFill>
                <a:latin typeface="PingFang SC"/>
              </a:rPr>
              <a:t>本地 RGB 视角：语义目标与障碍场景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1481328"/>
            <a:ext cx="5349240" cy="713232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9B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664208"/>
            <a:ext cx="105156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9B7BFF"/>
                </a:solidFill>
                <a:latin typeface="PingFang SC"/>
              </a:rPr>
              <a:t>文本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1664208"/>
            <a:ext cx="361188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F7FAFC"/>
                </a:solidFill>
                <a:latin typeface="PingFang SC"/>
              </a:rPr>
              <a:t>开放词汇检测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2441448"/>
            <a:ext cx="5349240" cy="713232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54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2624328"/>
            <a:ext cx="105156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548BFF"/>
                </a:solidFill>
                <a:latin typeface="PingFang SC"/>
              </a:rPr>
              <a:t>RGB-D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2624328"/>
            <a:ext cx="361188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F7FAFC"/>
                </a:solidFill>
                <a:latin typeface="PingFang SC"/>
              </a:rPr>
              <a:t>目标世界坐标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3401568"/>
            <a:ext cx="5349240" cy="713232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4DE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3584448"/>
            <a:ext cx="105156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4DE0A6"/>
                </a:solidFill>
                <a:latin typeface="PingFang SC"/>
              </a:rPr>
              <a:t>A*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3584448"/>
            <a:ext cx="361188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F7FAFC"/>
                </a:solidFill>
                <a:latin typeface="PingFang SC"/>
              </a:rPr>
              <a:t>障碍膨胀 + 禁止切角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0" y="4361688"/>
            <a:ext cx="5349240" cy="713232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4544568"/>
            <a:ext cx="105156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FC857"/>
                </a:solidFill>
                <a:latin typeface="PingFang SC"/>
              </a:rPr>
              <a:t>安全层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9752" y="4544568"/>
            <a:ext cx="361188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F7FAFC"/>
                </a:solidFill>
                <a:latin typeface="PingFang SC"/>
              </a:rPr>
              <a:t>航点 + LiDAR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5623560"/>
            <a:ext cx="5120640" cy="4023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8D7E6"/>
                </a:solidFill>
                <a:latin typeface="PingFang SC"/>
              </a:rPr>
              <a:t>可迁移：2D 栅格 → 3D 体素；车体膨胀 → UAV 安全球/椭球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1097280"/>
            <a:ext cx="1143000" cy="1143000"/>
          </a:xfrm>
          <a:prstGeom prst="ellipse">
            <a:avLst/>
          </a:prstGeom>
          <a:solidFill>
            <a:srgbClr val="28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35024"/>
            <a:ext cx="11430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09111F"/>
                </a:solidFill>
                <a:latin typeface="PingFang S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57400" y="1216152"/>
            <a:ext cx="9052560" cy="7772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7FAFC"/>
                </a:solidFill>
                <a:latin typeface="PingFang SC"/>
              </a:rPr>
              <a:t>V2X：明确边界，再做联合仿真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84831" y="2084831"/>
            <a:ext cx="7955279" cy="7315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A9B7CA"/>
                </a:solidFill>
                <a:latin typeface="PingFang SC"/>
              </a:rPr>
              <a:t>Genesis 负责物理和感知，网络模拟器负责协议、链路、队列与调度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4831" y="3127248"/>
            <a:ext cx="8046720" cy="18288"/>
          </a:xfrm>
          <a:prstGeom prst="rect">
            <a:avLst/>
          </a:prstGeom>
          <a:solidFill>
            <a:srgbClr val="263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84831" y="340156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8D7E6"/>
                </a:solidFill>
                <a:latin typeface="PingFang SC"/>
              </a:rPr>
              <a:t>GENESIS WORLD · UAV · V2X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4572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8D7E6"/>
                </a:solidFill>
                <a:latin typeface="PingFang SC"/>
              </a:rPr>
              <a:t>06 · V2X 联合仿真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7FAFC"/>
                </a:solidFill>
                <a:latin typeface="PingFang SC"/>
              </a:rPr>
              <a:t>通信能力矩阵：哪些能做，哪些不能直接宣称？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731520" cy="32004"/>
          </a:xfrm>
          <a:prstGeom prst="rect">
            <a:avLst/>
          </a:prstGeom>
          <a:solidFill>
            <a:srgbClr val="28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6547104"/>
            <a:ext cx="10789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71829A"/>
                </a:solidFill>
                <a:latin typeface="PingFang SC"/>
              </a:rPr>
              <a:t>依据：仓库全文检索；SensorOptions delay/jitter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71829A"/>
                </a:solidFill>
                <a:latin typeface="PingFang SC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444752"/>
          <a:ext cx="1088136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2103120"/>
                <a:gridCol w="4754880"/>
              </a:tblGrid>
              <a:tr h="646611">
                <a:tc>
                  <a:txBody>
                    <a:bodyPr/>
                    <a:lstStyle/>
                    <a:p>
                      <a:pPr algn="l">
                        <a:defRPr b="1">
                          <a:solidFill>
                            <a:srgbClr val="28D7E6"/>
                          </a:solidFill>
                          <a:latin typeface="PingFang SC"/>
                        </a:defRPr>
                      </a:pPr>
                      <a:r>
                        <a:t>能力</a:t>
                      </a:r>
                    </a:p>
                  </a:txBody>
                  <a:tcPr marL="73152" marR="73152" marT="45720" marB="45720">
                    <a:solidFill>
                      <a:srgbClr val="1726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>
                          <a:solidFill>
                            <a:srgbClr val="28D7E6"/>
                          </a:solidFill>
                          <a:latin typeface="PingFang SC"/>
                        </a:defRPr>
                      </a:pPr>
                      <a:r>
                        <a:t>现状</a:t>
                      </a:r>
                    </a:p>
                  </a:txBody>
                  <a:tcPr marL="73152" marR="73152" marT="45720" marB="45720">
                    <a:solidFill>
                      <a:srgbClr val="1726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>
                          <a:solidFill>
                            <a:srgbClr val="28D7E6"/>
                          </a:solidFill>
                          <a:latin typeface="PingFang SC"/>
                        </a:defRPr>
                      </a:pPr>
                      <a:r>
                        <a:t>处理方式</a:t>
                      </a:r>
                    </a:p>
                  </a:txBody>
                  <a:tcPr marL="73152" marR="73152" marT="45720" marB="45720">
                    <a:solidFill>
                      <a:srgbClr val="17263A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b="0">
                          <a:solidFill>
                            <a:srgbClr val="F7FAFC"/>
                          </a:solidFill>
                          <a:latin typeface="PingFang SC"/>
                        </a:defRPr>
                      </a:pPr>
                      <a:r>
                        <a:t>位姿 / 动力学 / 遮挡</a:t>
                      </a:r>
                    </a:p>
                  </a:txBody>
                  <a:tcPr marL="73152" marR="73152" marT="45720" marB="45720">
                    <a:solidFill>
                      <a:srgbClr val="11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4DE0A6"/>
                          </a:solidFill>
                          <a:latin typeface="PingFang SC"/>
                        </a:defRPr>
                      </a:pPr>
                      <a:r>
                        <a:t>原生</a:t>
                      </a:r>
                    </a:p>
                  </a:txBody>
                  <a:tcPr marL="73152" marR="73152" marT="45720" marB="45720">
                    <a:solidFill>
                      <a:srgbClr val="111D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>
                          <a:solidFill>
                            <a:srgbClr val="F7FAFC"/>
                          </a:solidFill>
                          <a:latin typeface="PingFang SC"/>
                        </a:defRPr>
                      </a:pPr>
                      <a:r>
                        <a:t>Genesis</a:t>
                      </a:r>
                    </a:p>
                  </a:txBody>
                  <a:tcPr marL="73152" marR="73152" marT="45720" marB="45720">
                    <a:solidFill>
                      <a:srgbClr val="111D2D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b="0">
                          <a:solidFill>
                            <a:srgbClr val="F7FAFC"/>
                          </a:solidFill>
                          <a:latin typeface="PingFang SC"/>
                        </a:defRPr>
                      </a:pPr>
                      <a:r>
                        <a:t>RGB / Depth / LiDAR / IMU</a:t>
                      </a:r>
                    </a:p>
                  </a:txBody>
                  <a:tcPr marL="73152" marR="73152" marT="45720" marB="45720">
                    <a:solidFill>
                      <a:srgbClr val="11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4DE0A6"/>
                          </a:solidFill>
                          <a:latin typeface="PingFang SC"/>
                        </a:defRPr>
                      </a:pPr>
                      <a:r>
                        <a:t>原生</a:t>
                      </a:r>
                    </a:p>
                  </a:txBody>
                  <a:tcPr marL="73152" marR="73152" marT="45720" marB="45720">
                    <a:solidFill>
                      <a:srgbClr val="111D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>
                          <a:solidFill>
                            <a:srgbClr val="F7FAFC"/>
                          </a:solidFill>
                          <a:latin typeface="PingFang SC"/>
                        </a:defRPr>
                      </a:pPr>
                      <a:r>
                        <a:t>Genesis Sensor API</a:t>
                      </a:r>
                    </a:p>
                  </a:txBody>
                  <a:tcPr marL="73152" marR="73152" marT="45720" marB="45720">
                    <a:solidFill>
                      <a:srgbClr val="111D2D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b="0">
                          <a:solidFill>
                            <a:srgbClr val="F7FAFC"/>
                          </a:solidFill>
                          <a:latin typeface="PingFang SC"/>
                        </a:defRPr>
                      </a:pPr>
                      <a:r>
                        <a:t>观测 delay / jitter / history</a:t>
                      </a:r>
                    </a:p>
                  </a:txBody>
                  <a:tcPr marL="73152" marR="73152" marT="45720" marB="45720">
                    <a:solidFill>
                      <a:srgbClr val="11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C857"/>
                          </a:solidFill>
                          <a:latin typeface="PingFang SC"/>
                        </a:defRPr>
                      </a:pPr>
                      <a:r>
                        <a:t>部分原生</a:t>
                      </a:r>
                    </a:p>
                  </a:txBody>
                  <a:tcPr marL="73152" marR="73152" marT="45720" marB="45720">
                    <a:solidFill>
                      <a:srgbClr val="111D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>
                          <a:solidFill>
                            <a:srgbClr val="F7FAFC"/>
                          </a:solidFill>
                          <a:latin typeface="PingFang SC"/>
                        </a:defRPr>
                      </a:pPr>
                      <a:r>
                        <a:t>基础时延实验</a:t>
                      </a:r>
                    </a:p>
                  </a:txBody>
                  <a:tcPr marL="73152" marR="73152" marT="45720" marB="45720">
                    <a:solidFill>
                      <a:srgbClr val="111D2D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b="0">
                          <a:solidFill>
                            <a:srgbClr val="F7FAFC"/>
                          </a:solidFill>
                          <a:latin typeface="PingFang SC"/>
                        </a:defRPr>
                      </a:pPr>
                      <a:r>
                        <a:t>包队列 / 拥塞 / 吞吐</a:t>
                      </a:r>
                    </a:p>
                  </a:txBody>
                  <a:tcPr marL="73152" marR="73152" marT="45720" marB="45720">
                    <a:solidFill>
                      <a:srgbClr val="11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6B6B"/>
                          </a:solidFill>
                          <a:latin typeface="PingFang SC"/>
                        </a:defRPr>
                      </a:pPr>
                      <a:r>
                        <a:t>未发现</a:t>
                      </a:r>
                    </a:p>
                  </a:txBody>
                  <a:tcPr marL="73152" marR="73152" marT="45720" marB="45720">
                    <a:solidFill>
                      <a:srgbClr val="111D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>
                          <a:solidFill>
                            <a:srgbClr val="F7FAFC"/>
                          </a:solidFill>
                          <a:latin typeface="PingFang SC"/>
                        </a:defRPr>
                      </a:pPr>
                      <a:r>
                        <a:t>ns-3 / OMNeT++</a:t>
                      </a:r>
                    </a:p>
                  </a:txBody>
                  <a:tcPr marL="73152" marR="73152" marT="45720" marB="45720">
                    <a:solidFill>
                      <a:srgbClr val="111D2D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b="0">
                          <a:solidFill>
                            <a:srgbClr val="F7FAFC"/>
                          </a:solidFill>
                          <a:latin typeface="PingFang SC"/>
                        </a:defRPr>
                      </a:pPr>
                      <a:r>
                        <a:t>V2X 协议栈 / 调度</a:t>
                      </a:r>
                    </a:p>
                  </a:txBody>
                  <a:tcPr marL="73152" marR="73152" marT="45720" marB="45720">
                    <a:solidFill>
                      <a:srgbClr val="11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6B6B"/>
                          </a:solidFill>
                          <a:latin typeface="PingFang SC"/>
                        </a:defRPr>
                      </a:pPr>
                      <a:r>
                        <a:t>未发现</a:t>
                      </a:r>
                    </a:p>
                  </a:txBody>
                  <a:tcPr marL="73152" marR="73152" marT="45720" marB="45720">
                    <a:solidFill>
                      <a:srgbClr val="111D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>
                          <a:solidFill>
                            <a:srgbClr val="F7FAFC"/>
                          </a:solidFill>
                          <a:latin typeface="PingFang SC"/>
                        </a:defRPr>
                      </a:pPr>
                      <a:r>
                        <a:t>专业网络仿真器</a:t>
                      </a:r>
                    </a:p>
                  </a:txBody>
                  <a:tcPr marL="73152" marR="73152" marT="45720" marB="45720">
                    <a:solidFill>
                      <a:srgbClr val="111D2D"/>
                    </a:solidFill>
                  </a:tcPr>
                </a:tc>
              </a:tr>
              <a:tr h="646614">
                <a:tc>
                  <a:txBody>
                    <a:bodyPr/>
                    <a:lstStyle/>
                    <a:p>
                      <a:pPr algn="l">
                        <a:defRPr b="0">
                          <a:solidFill>
                            <a:srgbClr val="F7FAFC"/>
                          </a:solidFill>
                          <a:latin typeface="PingFang SC"/>
                        </a:defRPr>
                      </a:pPr>
                      <a:r>
                        <a:t>SINR / BER / MCS</a:t>
                      </a:r>
                    </a:p>
                  </a:txBody>
                  <a:tcPr marL="73152" marR="73152" marT="45720" marB="45720">
                    <a:solidFill>
                      <a:srgbClr val="11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6B6B"/>
                          </a:solidFill>
                          <a:latin typeface="PingFang SC"/>
                        </a:defRPr>
                      </a:pPr>
                      <a:r>
                        <a:t>未发现完整模型</a:t>
                      </a:r>
                    </a:p>
                  </a:txBody>
                  <a:tcPr marL="73152" marR="73152" marT="45720" marB="45720">
                    <a:solidFill>
                      <a:srgbClr val="111D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>
                          <a:solidFill>
                            <a:srgbClr val="F7FAFC"/>
                          </a:solidFill>
                          <a:latin typeface="PingFang SC"/>
                        </a:defRPr>
                      </a:pPr>
                      <a:r>
                        <a:t>信道与链路模型</a:t>
                      </a:r>
                    </a:p>
                  </a:txBody>
                  <a:tcPr marL="73152" marR="73152" marT="45720" marB="45720">
                    <a:solidFill>
                      <a:srgbClr val="111D2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4572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8D7E6"/>
                </a:solidFill>
                <a:latin typeface="PingFang SC"/>
              </a:rPr>
              <a:t>06 · V2X 联合仿真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7FAFC"/>
                </a:solidFill>
                <a:latin typeface="PingFang SC"/>
              </a:rPr>
              <a:t>推荐架构：物理—网络—决策三层锁步闭环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731520" cy="32004"/>
          </a:xfrm>
          <a:prstGeom prst="rect">
            <a:avLst/>
          </a:prstGeom>
          <a:solidFill>
            <a:srgbClr val="28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6547104"/>
            <a:ext cx="10789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71829A"/>
                </a:solidFill>
                <a:latin typeface="PingFang SC"/>
              </a:rPr>
              <a:t>依据：建议方案；并非 Genesis 内置 V2X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71829A"/>
                </a:solidFill>
                <a:latin typeface="PingFang SC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063240" cy="1892807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874519"/>
            <a:ext cx="2734056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28D7E6"/>
                </a:solidFill>
                <a:latin typeface="PingFang SC"/>
              </a:rPr>
              <a:t>Genesis World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395728"/>
            <a:ext cx="2697480" cy="6217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A9B7CA"/>
                </a:solidFill>
                <a:latin typeface="PingFang SC"/>
              </a:rPr>
              <a:t>UAV / Vehicle</a:t>
            </a:r>
            <a:br/>
            <a:r>
              <a:rPr sz="1300" b="0">
                <a:solidFill>
                  <a:srgbClr val="A9B7CA"/>
                </a:solidFill>
                <a:latin typeface="PingFang SC"/>
              </a:rPr>
              <a:t>Physics · Scene · Sensor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063240" cy="1892807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874519"/>
            <a:ext cx="2734056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FFC857"/>
                </a:solidFill>
                <a:latin typeface="PingFang SC"/>
              </a:rPr>
              <a:t>同步桥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2395728"/>
            <a:ext cx="2697480" cy="6217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A9B7CA"/>
                </a:solidFill>
                <a:latin typeface="PingFang SC"/>
              </a:rPr>
              <a:t>sim_time · ID · pose</a:t>
            </a:r>
            <a:br/>
            <a:r>
              <a:rPr sz="1300" b="0">
                <a:solidFill>
                  <a:srgbClr val="A9B7CA"/>
                </a:solidFill>
                <a:latin typeface="PingFang SC"/>
              </a:rPr>
              <a:t>queue · timeout · seed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08975" y="1600200"/>
            <a:ext cx="3063240" cy="1892807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9B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73567" y="1874519"/>
            <a:ext cx="2734056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9B7BFF"/>
                </a:solidFill>
                <a:latin typeface="PingFang SC"/>
              </a:rPr>
              <a:t>Network Simulator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1855" y="2395728"/>
            <a:ext cx="2697480" cy="6217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A9B7CA"/>
                </a:solidFill>
                <a:latin typeface="PingFang SC"/>
              </a:rPr>
              <a:t>ns-3 / OMNeT++</a:t>
            </a:r>
            <a:br/>
            <a:r>
              <a:rPr sz="1300" b="0">
                <a:solidFill>
                  <a:srgbClr val="A9B7CA"/>
                </a:solidFill>
                <a:latin typeface="PingFang SC"/>
              </a:rPr>
              <a:t>latency · loss · SINR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21608" y="2532888"/>
            <a:ext cx="438912" cy="0"/>
          </a:xfrm>
          <a:prstGeom prst="line">
            <a:avLst/>
          </a:prstGeom>
          <a:ln w="25400">
            <a:solidFill>
              <a:srgbClr val="4DE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15200" y="2532888"/>
            <a:ext cx="429768" cy="0"/>
          </a:xfrm>
          <a:prstGeom prst="line">
            <a:avLst/>
          </a:prstGeom>
          <a:ln w="25400">
            <a:solidFill>
              <a:srgbClr val="4DE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240280" y="4251960"/>
            <a:ext cx="7708392" cy="1188720"/>
          </a:xfrm>
          <a:prstGeom prst="roundRect">
            <a:avLst/>
          </a:prstGeom>
          <a:solidFill>
            <a:srgbClr val="17263A"/>
          </a:solidFill>
          <a:ln w="13970">
            <a:solidFill>
              <a:srgbClr val="4DE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42032" y="4517136"/>
            <a:ext cx="7114032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100" b="1">
                <a:solidFill>
                  <a:srgbClr val="4DE0A6"/>
                </a:solidFill>
                <a:latin typeface="PingFang SC"/>
              </a:rPr>
              <a:t>规划 / 控制 / MARL / 边缘卸载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9904" y="3520440"/>
            <a:ext cx="0" cy="667512"/>
          </a:xfrm>
          <a:prstGeom prst="line">
            <a:avLst/>
          </a:prstGeom>
          <a:ln w="25400">
            <a:solidFill>
              <a:srgbClr val="4DE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51560" y="5779008"/>
            <a:ext cx="1005840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>
                <a:solidFill>
                  <a:srgbClr val="F7FAFC"/>
                </a:solidFill>
                <a:latin typeface="PingFang SC"/>
              </a:rPr>
              <a:t>dt_phys = 0.01 s；dt_net = N × dt_phys；消息携带时间戳并按到达时刻释放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4572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8D7E6"/>
                </a:solidFill>
                <a:latin typeface="PingFang SC"/>
              </a:rPr>
              <a:t>07 · 研究落地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7FAFC"/>
                </a:solidFill>
                <a:latin typeface="PingFang SC"/>
              </a:rPr>
              <a:t>三类可形成论文闭环的课题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731520" cy="32004"/>
          </a:xfrm>
          <a:prstGeom prst="rect">
            <a:avLst/>
          </a:prstGeom>
          <a:solidFill>
            <a:srgbClr val="28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6547104"/>
            <a:ext cx="10789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71829A"/>
                </a:solidFill>
                <a:latin typeface="PingFang SC"/>
              </a:rPr>
              <a:t>依据：建议研究设计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71829A"/>
                </a:solidFill>
                <a:latin typeface="PingFang SC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463040"/>
            <a:ext cx="3429000" cy="4023360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463040"/>
            <a:ext cx="54864" cy="4023360"/>
          </a:xfrm>
          <a:prstGeom prst="rect">
            <a:avLst/>
          </a:prstGeom>
          <a:solidFill>
            <a:srgbClr val="28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09344"/>
            <a:ext cx="308152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28D7E6"/>
                </a:solidFill>
                <a:latin typeface="PingFang SC"/>
              </a:rPr>
              <a:t>01  空—地协同感知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002536"/>
            <a:ext cx="3127248" cy="338328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  <a:defRPr sz="1350" b="0">
                <a:solidFill>
                  <a:srgbClr val="A9B7CA"/>
                </a:solidFill>
                <a:latin typeface="PingFang SC"/>
              </a:defRPr>
            </a:pPr>
            <a:r>
              <a:t>•  UAV 高空观测事故/目标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350" b="0">
                <a:solidFill>
                  <a:srgbClr val="A9B7CA"/>
                </a:solidFill>
                <a:latin typeface="PingFang SC"/>
              </a:defRPr>
            </a:pPr>
            <a:r>
              <a:t>•  车辆融合本地 LiDAR 与空中消息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350" b="0">
                <a:solidFill>
                  <a:srgbClr val="A9B7CA"/>
                </a:solidFill>
                <a:latin typeface="PingFang SC"/>
              </a:defRPr>
            </a:pPr>
            <a:r>
              <a:t>•  变量：定位误差、时延、丢包、遮挡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350" b="0">
                <a:solidFill>
                  <a:srgbClr val="A9B7CA"/>
                </a:solidFill>
                <a:latin typeface="PingFang SC"/>
              </a:defRPr>
            </a:pPr>
            <a:r>
              <a:t>•  指标：成功率、碰撞率、AoI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463040"/>
            <a:ext cx="3429000" cy="4023360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9976" y="1463040"/>
            <a:ext cx="54864" cy="4023360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1609344"/>
            <a:ext cx="308152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9B7BFF"/>
                </a:solidFill>
                <a:latin typeface="PingFang SC"/>
              </a:rPr>
              <a:t>02  移动中继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002536"/>
            <a:ext cx="3127248" cy="338328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  <a:defRPr sz="1350" b="0">
                <a:solidFill>
                  <a:srgbClr val="A9B7CA"/>
                </a:solidFill>
                <a:latin typeface="PingFang SC"/>
              </a:defRPr>
            </a:pPr>
            <a:r>
              <a:t>•  多 UAV 作为 V2X 中继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350" b="0">
                <a:solidFill>
                  <a:srgbClr val="A9B7CA"/>
                </a:solidFill>
                <a:latin typeface="PingFang SC"/>
              </a:defRPr>
            </a:pPr>
            <a:r>
              <a:t>•  联合优化航点、功率、信道与关联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350" b="0">
                <a:solidFill>
                  <a:srgbClr val="A9B7CA"/>
                </a:solidFill>
                <a:latin typeface="PingFang SC"/>
              </a:defRPr>
            </a:pPr>
            <a:r>
              <a:t>•  MARL：MAPPO / MADDPG / QMIX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350" b="0">
                <a:solidFill>
                  <a:srgbClr val="A9B7CA"/>
                </a:solidFill>
                <a:latin typeface="PingFang SC"/>
              </a:defRPr>
            </a:pPr>
            <a:r>
              <a:t>•  指标：覆盖、吞吐、能耗、公平性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463040"/>
            <a:ext cx="3429000" cy="4023360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463040"/>
            <a:ext cx="54864" cy="4023360"/>
          </a:xfrm>
          <a:prstGeom prst="rect">
            <a:avLst/>
          </a:prstGeom>
          <a:solidFill>
            <a:srgbClr val="4DE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609344"/>
            <a:ext cx="308152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4DE0A6"/>
                </a:solidFill>
                <a:latin typeface="PingFang SC"/>
              </a:rPr>
              <a:t>03  边缘推理卸载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002536"/>
            <a:ext cx="3127248" cy="338328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  <a:defRPr sz="1350" b="0">
                <a:solidFill>
                  <a:srgbClr val="A9B7CA"/>
                </a:solidFill>
                <a:latin typeface="PingFang SC"/>
              </a:defRPr>
            </a:pPr>
            <a:r>
              <a:t>•  传关键帧、目标框或中间特征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350" b="0">
                <a:solidFill>
                  <a:srgbClr val="A9B7CA"/>
                </a:solidFill>
                <a:latin typeface="PingFang SC"/>
              </a:defRPr>
            </a:pPr>
            <a:r>
              <a:t>•  比较本地、边缘与协同推理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350" b="0">
                <a:solidFill>
                  <a:srgbClr val="A9B7CA"/>
                </a:solidFill>
                <a:latin typeface="PingFang SC"/>
              </a:defRPr>
            </a:pPr>
            <a:r>
              <a:t>•  通信约束进入状态与奖励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350" b="0">
                <a:solidFill>
                  <a:srgbClr val="A9B7CA"/>
                </a:solidFill>
                <a:latin typeface="PingFang SC"/>
              </a:defRPr>
            </a:pPr>
            <a:r>
              <a:t>•  指标：精度、时延、带宽、能耗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5806440"/>
            <a:ext cx="106527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C857"/>
                </a:solidFill>
                <a:latin typeface="PingFang SC"/>
              </a:rPr>
              <a:t>共同原则：网络结果必须改变观测、动作或奖励，不能只作为离线日志。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4572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8D7E6"/>
                </a:solidFill>
                <a:latin typeface="PingFang SC"/>
              </a:rPr>
              <a:t>07 · 研究落地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7FAFC"/>
                </a:solidFill>
                <a:latin typeface="PingFang SC"/>
              </a:rPr>
              <a:t>建议落地路线：12 周形成可复现实验链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731520" cy="32004"/>
          </a:xfrm>
          <a:prstGeom prst="rect">
            <a:avLst/>
          </a:prstGeom>
          <a:solidFill>
            <a:srgbClr val="28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6547104"/>
            <a:ext cx="10789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71829A"/>
                </a:solidFill>
                <a:latin typeface="PingFang SC"/>
              </a:rPr>
              <a:t>依据：建议实施计划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71829A"/>
                </a:solidFill>
                <a:latin typeface="PingFang SC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423160" cy="3127248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9888" y="1472184"/>
            <a:ext cx="822960" cy="822960"/>
          </a:xfrm>
          <a:prstGeom prst="ellipse">
            <a:avLst/>
          </a:prstGeom>
          <a:solidFill>
            <a:srgbClr val="28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682496"/>
            <a:ext cx="82296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09111F"/>
                </a:solidFill>
                <a:latin typeface="PingFang SC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487168"/>
            <a:ext cx="1911095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28D7E6"/>
                </a:solidFill>
                <a:latin typeface="PingFang SC"/>
              </a:rPr>
              <a:t>1–2 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26080"/>
            <a:ext cx="20574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F7FAFC"/>
                </a:solidFill>
                <a:latin typeface="PingFang SC"/>
              </a:rPr>
              <a:t>基线复现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547872"/>
            <a:ext cx="2011680" cy="7498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A9B7CA"/>
                </a:solidFill>
                <a:latin typeface="PingFang SC"/>
              </a:rPr>
              <a:t>跑通 UAV 案例</a:t>
            </a:r>
            <a:br/>
            <a:r>
              <a:rPr sz="1250" b="0">
                <a:solidFill>
                  <a:srgbClr val="A9B7CA"/>
                </a:solidFill>
                <a:latin typeface="PingFang SC"/>
              </a:rPr>
              <a:t>版本与碰撞验证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35808" y="3429000"/>
            <a:ext cx="356616" cy="0"/>
          </a:xfrm>
          <a:prstGeom prst="line">
            <a:avLst/>
          </a:prstGeom>
          <a:ln w="25400">
            <a:solidFill>
              <a:srgbClr val="28D7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47288" y="1874519"/>
            <a:ext cx="2423160" cy="3127248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4DE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42816" y="1472184"/>
            <a:ext cx="822960" cy="822960"/>
          </a:xfrm>
          <a:prstGeom prst="ellipse">
            <a:avLst/>
          </a:prstGeom>
          <a:solidFill>
            <a:srgbClr val="4DE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42816" y="1682496"/>
            <a:ext cx="82296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09111F"/>
                </a:solidFill>
                <a:latin typeface="PingFang S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487168"/>
            <a:ext cx="1911095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4DE0A6"/>
                </a:solidFill>
                <a:latin typeface="PingFang SC"/>
              </a:rPr>
              <a:t>2–4 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0168" y="2926080"/>
            <a:ext cx="20574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F7FAFC"/>
                </a:solidFill>
                <a:latin typeface="PingFang SC"/>
              </a:rPr>
              <a:t>三维导航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8456" y="3547872"/>
            <a:ext cx="2011680" cy="7498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A9B7CA"/>
                </a:solidFill>
                <a:latin typeface="PingFang SC"/>
              </a:rPr>
              <a:t>Depth/LiDAR/IMU</a:t>
            </a:r>
            <a:br/>
            <a:r>
              <a:rPr sz="1250" b="0">
                <a:solidFill>
                  <a:srgbClr val="A9B7CA"/>
                </a:solidFill>
                <a:latin typeface="PingFang SC"/>
              </a:rPr>
              <a:t>3D A* / RRT*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88736" y="3429000"/>
            <a:ext cx="356616" cy="0"/>
          </a:xfrm>
          <a:prstGeom prst="line">
            <a:avLst/>
          </a:prstGeom>
          <a:ln w="25400">
            <a:solidFill>
              <a:srgbClr val="28D7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300216" y="1874519"/>
            <a:ext cx="2423160" cy="3127248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54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95744" y="1472184"/>
            <a:ext cx="822960" cy="822960"/>
          </a:xfrm>
          <a:prstGeom prst="ellipse">
            <a:avLst/>
          </a:prstGeom>
          <a:solidFill>
            <a:srgbClr val="54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5744" y="1682496"/>
            <a:ext cx="82296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09111F"/>
                </a:solidFill>
                <a:latin typeface="PingFang SC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2487168"/>
            <a:ext cx="1911095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548BFF"/>
                </a:solidFill>
                <a:latin typeface="PingFang SC"/>
              </a:rPr>
              <a:t>3–6 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3096" y="2926080"/>
            <a:ext cx="20574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F7FAFC"/>
                </a:solidFill>
                <a:latin typeface="PingFang SC"/>
              </a:rPr>
              <a:t>空—地多智能体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1384" y="3547872"/>
            <a:ext cx="2011680" cy="7498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A9B7CA"/>
                </a:solidFill>
                <a:latin typeface="PingFang SC"/>
              </a:rPr>
              <a:t>统一 ID / 时钟 / 日志</a:t>
            </a:r>
            <a:br/>
            <a:r>
              <a:rPr sz="1250" b="0">
                <a:solidFill>
                  <a:srgbClr val="A9B7CA"/>
                </a:solidFill>
                <a:latin typeface="PingFang SC"/>
              </a:rPr>
              <a:t>Python channel model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41664" y="3429000"/>
            <a:ext cx="356616" cy="0"/>
          </a:xfrm>
          <a:prstGeom prst="line">
            <a:avLst/>
          </a:prstGeom>
          <a:ln w="25400">
            <a:solidFill>
              <a:srgbClr val="28D7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53144" y="1874519"/>
            <a:ext cx="2423160" cy="3127248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9B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48672" y="1472184"/>
            <a:ext cx="822960" cy="822960"/>
          </a:xfrm>
          <a:prstGeom prst="ellipse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48672" y="1682496"/>
            <a:ext cx="82296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09111F"/>
                </a:solidFill>
                <a:latin typeface="PingFang SC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9176" y="2487168"/>
            <a:ext cx="1911095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9B7BFF"/>
                </a:solidFill>
                <a:latin typeface="PingFang SC"/>
              </a:rPr>
              <a:t>6–12 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36024" y="2926080"/>
            <a:ext cx="20574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F7FAFC"/>
                </a:solidFill>
                <a:latin typeface="PingFang SC"/>
              </a:rPr>
              <a:t>网络 + MARL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54312" y="3547872"/>
            <a:ext cx="2011680" cy="7498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A9B7CA"/>
                </a:solidFill>
                <a:latin typeface="PingFang SC"/>
              </a:rPr>
              <a:t>接入 ns-3/OMNeT++</a:t>
            </a:r>
            <a:br/>
            <a:r>
              <a:rPr sz="1250" b="0">
                <a:solidFill>
                  <a:srgbClr val="A9B7CA"/>
                </a:solidFill>
                <a:latin typeface="PingFang SC"/>
              </a:rPr>
              <a:t>联合优化与消融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" y="5705856"/>
            <a:ext cx="10789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28D7E6"/>
                </a:solidFill>
                <a:latin typeface="PingFang SC"/>
              </a:rPr>
              <a:t>每阶段都保留可运行基线、固定随机种子、统一指标与可回放日志。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4572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8D7E6"/>
                </a:solidFill>
                <a:latin typeface="PingFang SC"/>
              </a:rPr>
              <a:t>07 · 研究落地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7FAFC"/>
                </a:solidFill>
                <a:latin typeface="PingFang SC"/>
              </a:rPr>
              <a:t>采用前必须正视的限制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731520" cy="32004"/>
          </a:xfrm>
          <a:prstGeom prst="rect">
            <a:avLst/>
          </a:prstGeom>
          <a:solidFill>
            <a:srgbClr val="28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6547104"/>
            <a:ext cx="10789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71829A"/>
                </a:solidFill>
                <a:latin typeface="PingFang SC"/>
              </a:rPr>
              <a:t>依据：当前源码审阅结论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71829A"/>
                </a:solidFill>
                <a:latin typeface="PingFang SC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417320"/>
            <a:ext cx="5148072" cy="1097280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417320"/>
            <a:ext cx="54864" cy="109728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63624"/>
            <a:ext cx="48006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FC857"/>
                </a:solidFill>
                <a:latin typeface="PingFang SC"/>
              </a:rPr>
              <a:t>API 演进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84248"/>
            <a:ext cx="4800600" cy="40233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A9B7CA"/>
                </a:solidFill>
                <a:latin typeface="PingFang SC"/>
              </a:rPr>
              <a:t>锁版本与提交，不只写 latest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35624" y="1417320"/>
            <a:ext cx="5148072" cy="1097280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35624" y="1417320"/>
            <a:ext cx="54864" cy="10972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563624"/>
            <a:ext cx="48006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F6B6B"/>
                </a:solidFill>
                <a:latin typeface="PingFang SC"/>
              </a:rPr>
              <a:t>气动简化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984248"/>
            <a:ext cx="4800600" cy="40233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A9B7CA"/>
                </a:solidFill>
                <a:latin typeface="PingFang SC"/>
              </a:rPr>
              <a:t>RPM² 集中力；非 CFD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2816352"/>
            <a:ext cx="5148072" cy="1097280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2816352"/>
            <a:ext cx="54864" cy="10972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962656"/>
            <a:ext cx="48006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F6B6B"/>
                </a:solidFill>
                <a:latin typeface="PingFang SC"/>
              </a:rPr>
              <a:t>碰撞待验证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383280"/>
            <a:ext cx="4800600" cy="40233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A9B7CA"/>
                </a:solidFill>
                <a:latin typeface="PingFang SC"/>
              </a:rPr>
              <a:t>源码说明与 URDF collision 并存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2816352"/>
            <a:ext cx="5148072" cy="1097280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35624" y="2816352"/>
            <a:ext cx="54864" cy="109728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2962656"/>
            <a:ext cx="48006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FC857"/>
                </a:solidFill>
                <a:latin typeface="PingFang SC"/>
              </a:rPr>
              <a:t>训练脚本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3383280"/>
            <a:ext cx="4800600" cy="40233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A9B7CA"/>
                </a:solidFill>
                <a:latin typeface="PingFang SC"/>
              </a:rPr>
              <a:t>同名日志覆盖；动作时延开关未生效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" y="4215384"/>
            <a:ext cx="5148072" cy="1097280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" y="4215384"/>
            <a:ext cx="54864" cy="1097280"/>
          </a:xfrm>
          <a:prstGeom prst="rect">
            <a:avLst/>
          </a:prstGeom>
          <a:solidFill>
            <a:srgbClr val="54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361688"/>
            <a:ext cx="48006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548BFF"/>
                </a:solidFill>
                <a:latin typeface="PingFang SC"/>
              </a:rPr>
              <a:t>平台差异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782312"/>
            <a:ext cx="4800600" cy="40233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A9B7CA"/>
                </a:solidFill>
                <a:latin typeface="PingFang SC"/>
              </a:rPr>
              <a:t>GPU / 渲染 / 批量传感器分别测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35624" y="4215384"/>
            <a:ext cx="5148072" cy="1097280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26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35624" y="4215384"/>
            <a:ext cx="54864" cy="1097280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4361688"/>
            <a:ext cx="48006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9B7BFF"/>
                </a:solidFill>
                <a:latin typeface="PingFang SC"/>
              </a:rPr>
              <a:t>通信缺口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4782312"/>
            <a:ext cx="4800600" cy="40233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A9B7CA"/>
                </a:solidFill>
                <a:latin typeface="PingFang SC"/>
              </a:rPr>
              <a:t>协议与链路必须外接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" y="5788152"/>
            <a:ext cx="106527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28D7E6"/>
                </a:solidFill>
                <a:latin typeface="PingFang SC"/>
              </a:rPr>
              <a:t>工程判断：Genesis 值得作为研究底座，但实验结论必须经过任务级校准和验证。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4572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8D7E6"/>
                </a:solidFill>
                <a:latin typeface="PingFang SC"/>
              </a:rPr>
              <a:t>08 · 行动建议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7FAFC"/>
                </a:solidFill>
                <a:latin typeface="PingFang SC"/>
              </a:rPr>
              <a:t>建议第一个组内基准任务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731520" cy="32004"/>
          </a:xfrm>
          <a:prstGeom prst="rect">
            <a:avLst/>
          </a:prstGeom>
          <a:solidFill>
            <a:srgbClr val="28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6547104"/>
            <a:ext cx="10789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71829A"/>
                </a:solidFill>
                <a:latin typeface="PingFang SC"/>
              </a:rPr>
              <a:t>依据：文档附录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71829A"/>
                </a:solidFill>
                <a:latin typeface="PingFang SC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26464"/>
            <a:ext cx="10789920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700" b="1">
                <a:solidFill>
                  <a:srgbClr val="28D7E6"/>
                </a:solidFill>
                <a:latin typeface="PingFang SC"/>
              </a:rPr>
              <a:t>通信受限的空—地协同目标搜索与安全到达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31720"/>
            <a:ext cx="2450592" cy="2167128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54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670048"/>
            <a:ext cx="2121408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548BFF"/>
                </a:solidFill>
                <a:latin typeface="PingFang SC"/>
              </a:rPr>
              <a:t>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246120"/>
            <a:ext cx="2121408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A9B7CA"/>
                </a:solidFill>
                <a:latin typeface="PingFang SC"/>
              </a:rPr>
              <a:t>1 UAV + 2–8 车辆</a:t>
            </a:r>
            <a:br/>
            <a:r>
              <a:rPr sz="1300" b="0">
                <a:solidFill>
                  <a:srgbClr val="A9B7CA"/>
                </a:solidFill>
                <a:latin typeface="PingFang SC"/>
              </a:rPr>
              <a:t>随机目标与障碍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99816" y="3383280"/>
            <a:ext cx="310896" cy="0"/>
          </a:xfrm>
          <a:prstGeom prst="line">
            <a:avLst/>
          </a:prstGeom>
          <a:ln w="25400">
            <a:solidFill>
              <a:srgbClr val="28D7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83864" y="2331720"/>
            <a:ext cx="2450592" cy="2167128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9B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8456" y="2670048"/>
            <a:ext cx="2121408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9B7BFF"/>
                </a:solidFill>
                <a:latin typeface="PingFang SC"/>
              </a:rPr>
              <a:t>通信档位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3246120"/>
            <a:ext cx="2121408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A9B7CA"/>
                </a:solidFill>
                <a:latin typeface="PingFang SC"/>
              </a:rPr>
              <a:t>理想 / 固定损伤</a:t>
            </a:r>
            <a:br/>
            <a:r>
              <a:rPr sz="1300" b="0">
                <a:solidFill>
                  <a:srgbClr val="A9B7CA"/>
                </a:solidFill>
                <a:latin typeface="PingFang SC"/>
              </a:rPr>
              <a:t>/ ns-3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61888" y="3383280"/>
            <a:ext cx="310895" cy="0"/>
          </a:xfrm>
          <a:prstGeom prst="line">
            <a:avLst/>
          </a:prstGeom>
          <a:ln w="25400">
            <a:solidFill>
              <a:srgbClr val="28D7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45936" y="2331720"/>
            <a:ext cx="2450592" cy="2167128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4DE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7" y="2670048"/>
            <a:ext cx="2121408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4DE0A6"/>
                </a:solidFill>
                <a:latin typeface="PingFang SC"/>
              </a:rPr>
              <a:t>算法基线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7" y="3246120"/>
            <a:ext cx="2121408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A9B7CA"/>
                </a:solidFill>
                <a:latin typeface="PingFang SC"/>
              </a:rPr>
              <a:t>A* + 安全层</a:t>
            </a:r>
            <a:br/>
            <a:r>
              <a:rPr sz="1300" b="0">
                <a:solidFill>
                  <a:srgbClr val="A9B7CA"/>
                </a:solidFill>
                <a:latin typeface="PingFang SC"/>
              </a:rPr>
              <a:t>/ MAPPO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23959" y="3383280"/>
            <a:ext cx="310896" cy="0"/>
          </a:xfrm>
          <a:prstGeom prst="line">
            <a:avLst/>
          </a:prstGeom>
          <a:ln w="25400">
            <a:solidFill>
              <a:srgbClr val="28D7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208008" y="2331720"/>
            <a:ext cx="2450592" cy="2167128"/>
          </a:xfrm>
          <a:prstGeom prst="roundRect">
            <a:avLst/>
          </a:prstGeom>
          <a:solidFill>
            <a:srgbClr val="111D2D"/>
          </a:solidFill>
          <a:ln w="1397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2670048"/>
            <a:ext cx="2121408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FFC857"/>
                </a:solidFill>
                <a:latin typeface="PingFang SC"/>
              </a:rPr>
              <a:t>评价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3246120"/>
            <a:ext cx="2121408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A9B7CA"/>
                </a:solidFill>
                <a:latin typeface="PingFang SC"/>
              </a:rPr>
              <a:t>成功 / 碰撞 / AoI</a:t>
            </a:r>
            <a:br/>
            <a:r>
              <a:rPr sz="1300" b="0">
                <a:solidFill>
                  <a:srgbClr val="A9B7CA"/>
                </a:solidFill>
                <a:latin typeface="PingFang SC"/>
              </a:rPr>
              <a:t>吞吐 / 能耗 / RTF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34440" y="5138928"/>
            <a:ext cx="9720072" cy="676656"/>
          </a:xfrm>
          <a:prstGeom prst="roundRect">
            <a:avLst/>
          </a:prstGeom>
          <a:solidFill>
            <a:srgbClr val="17263A"/>
          </a:solidFill>
          <a:ln w="13970">
            <a:solidFill>
              <a:srgbClr val="2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17320" y="5349240"/>
            <a:ext cx="935431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7FAFC"/>
                </a:solidFill>
                <a:latin typeface="PingFang SC"/>
              </a:rPr>
              <a:t>一次覆盖无人机 · 车联网 · 路径规划 · 强化学习，并可清楚做模块消融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74904"/>
            <a:ext cx="3246120" cy="91440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ith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30352"/>
            <a:ext cx="2926080" cy="7580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627632"/>
            <a:ext cx="201168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28D7E6"/>
                </a:solidFill>
                <a:latin typeface="PingFang SC"/>
              </a:rPr>
              <a:t>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23160"/>
            <a:ext cx="10607040" cy="12344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7FAFC"/>
                </a:solidFill>
                <a:latin typeface="PingFang SC"/>
              </a:rPr>
              <a:t>Genesis 的价值，不是把所有工具合并成一个，</a:t>
            </a:r>
            <a:br/>
            <a:r>
              <a:rPr sz="2700" b="1">
                <a:solidFill>
                  <a:srgbClr val="F7FAFC"/>
                </a:solidFill>
                <a:latin typeface="PingFang SC"/>
              </a:rPr>
              <a:t>而是把物理、感知与学习闭环做成可扩展的共同底座。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4133087"/>
            <a:ext cx="105613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4DE0A6"/>
                </a:solidFill>
                <a:latin typeface="PingFang SC"/>
              </a:rPr>
              <a:t>Genesis：物理与传感器  ×  网络仿真器：通信真实性  ×  算法框架：智能决策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5074920"/>
            <a:ext cx="10863072" cy="22860"/>
          </a:xfrm>
          <a:prstGeom prst="rect">
            <a:avLst/>
          </a:prstGeom>
          <a:solidFill>
            <a:srgbClr val="263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5431536"/>
            <a:ext cx="10451592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0">
                <a:solidFill>
                  <a:srgbClr val="A9B7CA"/>
                </a:solidFill>
                <a:latin typeface="PingFang SC"/>
              </a:rPr>
              <a:t>下一步：复现 UAV 基线 → 验证碰撞 → 建立三维导航 → 接入网络联合仿真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21240" y="6199632"/>
            <a:ext cx="13258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>
                <a:solidFill>
                  <a:srgbClr val="28D7E6"/>
                </a:solidFill>
                <a:latin typeface="PingFang SC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